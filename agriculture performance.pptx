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798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9F8CB7-A0EE-4015-8E02-69ABCCF0C94F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A4CD2-80ED-48FC-A59C-EAC7D32B60D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6A4CD2-80ED-48FC-A59C-EAC7D32B60D1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425308" y="0"/>
            <a:ext cx="4763770" cy="6858000"/>
          </a:xfrm>
          <a:custGeom>
            <a:avLst/>
            <a:gdLst/>
            <a:ahLst/>
            <a:cxnLst/>
            <a:rect l="l" t="t" r="r" b="b"/>
            <a:pathLst>
              <a:path w="4763770" h="6858000">
                <a:moveTo>
                  <a:pt x="1945640" y="0"/>
                </a:moveTo>
                <a:lnTo>
                  <a:pt x="3164840" y="6857999"/>
                </a:lnTo>
              </a:path>
              <a:path w="4763770" h="6858000">
                <a:moveTo>
                  <a:pt x="4763516" y="3681349"/>
                </a:moveTo>
                <a:lnTo>
                  <a:pt x="0" y="6857999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181464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7359" y="0"/>
                </a:moveTo>
                <a:lnTo>
                  <a:pt x="2043054" y="0"/>
                </a:lnTo>
                <a:lnTo>
                  <a:pt x="0" y="6858000"/>
                </a:lnTo>
                <a:lnTo>
                  <a:pt x="3007359" y="6858000"/>
                </a:lnTo>
                <a:lnTo>
                  <a:pt x="3007359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604984" y="0"/>
            <a:ext cx="2587625" cy="6858000"/>
          </a:xfrm>
          <a:custGeom>
            <a:avLst/>
            <a:gdLst/>
            <a:ahLst/>
            <a:cxnLst/>
            <a:rect l="l" t="t" r="r" b="b"/>
            <a:pathLst>
              <a:path w="2587625" h="6858000">
                <a:moveTo>
                  <a:pt x="2587015" y="0"/>
                </a:moveTo>
                <a:lnTo>
                  <a:pt x="0" y="0"/>
                </a:lnTo>
                <a:lnTo>
                  <a:pt x="1207922" y="6858000"/>
                </a:lnTo>
                <a:lnTo>
                  <a:pt x="2587015" y="6858000"/>
                </a:lnTo>
                <a:lnTo>
                  <a:pt x="2587015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932290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708" y="0"/>
                </a:moveTo>
                <a:lnTo>
                  <a:pt x="0" y="3809999"/>
                </a:lnTo>
                <a:lnTo>
                  <a:pt x="3259708" y="3809999"/>
                </a:lnTo>
                <a:lnTo>
                  <a:pt x="3259708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337561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263" y="0"/>
                </a:moveTo>
                <a:lnTo>
                  <a:pt x="0" y="0"/>
                </a:lnTo>
                <a:lnTo>
                  <a:pt x="2467723" y="6858000"/>
                </a:lnTo>
                <a:lnTo>
                  <a:pt x="2851263" y="6858000"/>
                </a:lnTo>
                <a:lnTo>
                  <a:pt x="2851263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898758" y="0"/>
            <a:ext cx="1290320" cy="6858000"/>
          </a:xfrm>
          <a:custGeom>
            <a:avLst/>
            <a:gdLst/>
            <a:ahLst/>
            <a:cxnLst/>
            <a:rect l="l" t="t" r="r" b="b"/>
            <a:pathLst>
              <a:path w="1290320" h="6858000">
                <a:moveTo>
                  <a:pt x="1290066" y="0"/>
                </a:moveTo>
                <a:lnTo>
                  <a:pt x="1018419" y="0"/>
                </a:lnTo>
                <a:lnTo>
                  <a:pt x="0" y="6858000"/>
                </a:lnTo>
                <a:lnTo>
                  <a:pt x="1290066" y="6858000"/>
                </a:lnTo>
                <a:lnTo>
                  <a:pt x="1290066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940392" y="0"/>
            <a:ext cx="1249045" cy="6858000"/>
          </a:xfrm>
          <a:custGeom>
            <a:avLst/>
            <a:gdLst/>
            <a:ahLst/>
            <a:cxnLst/>
            <a:rect l="l" t="t" r="r" b="b"/>
            <a:pathLst>
              <a:path w="1249045" h="6858000">
                <a:moveTo>
                  <a:pt x="1248432" y="0"/>
                </a:moveTo>
                <a:lnTo>
                  <a:pt x="0" y="0"/>
                </a:lnTo>
                <a:lnTo>
                  <a:pt x="1107970" y="6858000"/>
                </a:lnTo>
                <a:lnTo>
                  <a:pt x="1248432" y="6858000"/>
                </a:lnTo>
                <a:lnTo>
                  <a:pt x="1248432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371708" y="3589909"/>
            <a:ext cx="1817370" cy="3268345"/>
          </a:xfrm>
          <a:custGeom>
            <a:avLst/>
            <a:gdLst/>
            <a:ahLst/>
            <a:cxnLst/>
            <a:rect l="l" t="t" r="r" b="b"/>
            <a:pathLst>
              <a:path w="1817370" h="3268345">
                <a:moveTo>
                  <a:pt x="1817116" y="0"/>
                </a:moveTo>
                <a:lnTo>
                  <a:pt x="0" y="3268090"/>
                </a:lnTo>
                <a:lnTo>
                  <a:pt x="1817116" y="3268090"/>
                </a:lnTo>
                <a:lnTo>
                  <a:pt x="1817116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0" y="4013200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0" y="0"/>
                </a:moveTo>
                <a:lnTo>
                  <a:pt x="0" y="2844799"/>
                </a:lnTo>
                <a:lnTo>
                  <a:pt x="448729" y="2844799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9354439" y="536398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6692772" y="1699933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319747" y="0"/>
                </a:moveTo>
                <a:lnTo>
                  <a:pt x="0" y="0"/>
                </a:lnTo>
                <a:lnTo>
                  <a:pt x="0" y="319747"/>
                </a:lnTo>
                <a:lnTo>
                  <a:pt x="319747" y="319747"/>
                </a:lnTo>
                <a:lnTo>
                  <a:pt x="319747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9354439" y="5897740"/>
            <a:ext cx="180340" cy="180340"/>
          </a:xfrm>
          <a:custGeom>
            <a:avLst/>
            <a:gdLst/>
            <a:ahLst/>
            <a:cxnLst/>
            <a:rect l="l" t="t" r="r" b="b"/>
            <a:pathLst>
              <a:path w="180340" h="180339">
                <a:moveTo>
                  <a:pt x="179971" y="0"/>
                </a:moveTo>
                <a:lnTo>
                  <a:pt x="0" y="0"/>
                </a:lnTo>
                <a:lnTo>
                  <a:pt x="0" y="179971"/>
                </a:lnTo>
                <a:lnTo>
                  <a:pt x="179971" y="179971"/>
                </a:lnTo>
                <a:lnTo>
                  <a:pt x="179971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bg 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557" y="6471920"/>
            <a:ext cx="76200" cy="17159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786" y="385698"/>
            <a:ext cx="2444750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10-Sep-26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11112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pPr marL="111125">
                <a:lnSpc>
                  <a:spcPct val="100000"/>
                </a:lnSpc>
                <a:spcBef>
                  <a:spcPts val="35"/>
                </a:spcBef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10-Sep-26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11112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pPr marL="111125">
                <a:lnSpc>
                  <a:spcPct val="100000"/>
                </a:lnSpc>
                <a:spcBef>
                  <a:spcPts val="35"/>
                </a:spcBef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10-Sep-26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11112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pPr marL="111125">
                <a:lnSpc>
                  <a:spcPct val="100000"/>
                </a:lnSpc>
                <a:spcBef>
                  <a:spcPts val="35"/>
                </a:spcBef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10-Sep-26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11112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pPr marL="111125">
                <a:lnSpc>
                  <a:spcPct val="100000"/>
                </a:lnSpc>
                <a:spcBef>
                  <a:spcPts val="35"/>
                </a:spcBef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10-Sep-26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11112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pPr marL="111125">
                <a:lnSpc>
                  <a:spcPct val="100000"/>
                </a:lnSpc>
                <a:spcBef>
                  <a:spcPts val="35"/>
                </a:spcBef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425308" y="0"/>
            <a:ext cx="4763770" cy="6858000"/>
          </a:xfrm>
          <a:custGeom>
            <a:avLst/>
            <a:gdLst/>
            <a:ahLst/>
            <a:cxnLst/>
            <a:rect l="l" t="t" r="r" b="b"/>
            <a:pathLst>
              <a:path w="4763770" h="6858000">
                <a:moveTo>
                  <a:pt x="1945640" y="0"/>
                </a:moveTo>
                <a:lnTo>
                  <a:pt x="3164840" y="6857999"/>
                </a:lnTo>
              </a:path>
              <a:path w="4763770" h="6858000">
                <a:moveTo>
                  <a:pt x="4763516" y="3681349"/>
                </a:moveTo>
                <a:lnTo>
                  <a:pt x="0" y="6857999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181464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7359" y="0"/>
                </a:moveTo>
                <a:lnTo>
                  <a:pt x="2043054" y="0"/>
                </a:lnTo>
                <a:lnTo>
                  <a:pt x="0" y="6858000"/>
                </a:lnTo>
                <a:lnTo>
                  <a:pt x="3007359" y="6858000"/>
                </a:lnTo>
                <a:lnTo>
                  <a:pt x="3007359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604984" y="0"/>
            <a:ext cx="2587625" cy="6858000"/>
          </a:xfrm>
          <a:custGeom>
            <a:avLst/>
            <a:gdLst/>
            <a:ahLst/>
            <a:cxnLst/>
            <a:rect l="l" t="t" r="r" b="b"/>
            <a:pathLst>
              <a:path w="2587625" h="6858000">
                <a:moveTo>
                  <a:pt x="2587015" y="0"/>
                </a:moveTo>
                <a:lnTo>
                  <a:pt x="0" y="0"/>
                </a:lnTo>
                <a:lnTo>
                  <a:pt x="1207922" y="6858000"/>
                </a:lnTo>
                <a:lnTo>
                  <a:pt x="2587015" y="6858000"/>
                </a:lnTo>
                <a:lnTo>
                  <a:pt x="2587015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932290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708" y="0"/>
                </a:moveTo>
                <a:lnTo>
                  <a:pt x="0" y="3809999"/>
                </a:lnTo>
                <a:lnTo>
                  <a:pt x="3259708" y="3809999"/>
                </a:lnTo>
                <a:lnTo>
                  <a:pt x="3259708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337561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263" y="0"/>
                </a:moveTo>
                <a:lnTo>
                  <a:pt x="0" y="0"/>
                </a:lnTo>
                <a:lnTo>
                  <a:pt x="2467723" y="6858000"/>
                </a:lnTo>
                <a:lnTo>
                  <a:pt x="2851263" y="6858000"/>
                </a:lnTo>
                <a:lnTo>
                  <a:pt x="2851263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898758" y="0"/>
            <a:ext cx="1290320" cy="6858000"/>
          </a:xfrm>
          <a:custGeom>
            <a:avLst/>
            <a:gdLst/>
            <a:ahLst/>
            <a:cxnLst/>
            <a:rect l="l" t="t" r="r" b="b"/>
            <a:pathLst>
              <a:path w="1290320" h="6858000">
                <a:moveTo>
                  <a:pt x="1290066" y="0"/>
                </a:moveTo>
                <a:lnTo>
                  <a:pt x="1018419" y="0"/>
                </a:lnTo>
                <a:lnTo>
                  <a:pt x="0" y="6858000"/>
                </a:lnTo>
                <a:lnTo>
                  <a:pt x="1290066" y="6858000"/>
                </a:lnTo>
                <a:lnTo>
                  <a:pt x="1290066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940392" y="0"/>
            <a:ext cx="1249045" cy="6858000"/>
          </a:xfrm>
          <a:custGeom>
            <a:avLst/>
            <a:gdLst/>
            <a:ahLst/>
            <a:cxnLst/>
            <a:rect l="l" t="t" r="r" b="b"/>
            <a:pathLst>
              <a:path w="1249045" h="6858000">
                <a:moveTo>
                  <a:pt x="1248432" y="0"/>
                </a:moveTo>
                <a:lnTo>
                  <a:pt x="0" y="0"/>
                </a:lnTo>
                <a:lnTo>
                  <a:pt x="1107970" y="6858000"/>
                </a:lnTo>
                <a:lnTo>
                  <a:pt x="1248432" y="6858000"/>
                </a:lnTo>
                <a:lnTo>
                  <a:pt x="1248432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371708" y="3589909"/>
            <a:ext cx="1817370" cy="3268345"/>
          </a:xfrm>
          <a:custGeom>
            <a:avLst/>
            <a:gdLst/>
            <a:ahLst/>
            <a:cxnLst/>
            <a:rect l="l" t="t" r="r" b="b"/>
            <a:pathLst>
              <a:path w="1817370" h="3268345">
                <a:moveTo>
                  <a:pt x="1817116" y="0"/>
                </a:moveTo>
                <a:lnTo>
                  <a:pt x="0" y="3268090"/>
                </a:lnTo>
                <a:lnTo>
                  <a:pt x="1817116" y="3268090"/>
                </a:lnTo>
                <a:lnTo>
                  <a:pt x="1817116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0" y="4013200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0" y="0"/>
                </a:moveTo>
                <a:lnTo>
                  <a:pt x="0" y="2844799"/>
                </a:lnTo>
                <a:lnTo>
                  <a:pt x="448729" y="2844799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4786" y="392633"/>
            <a:ext cx="6292850" cy="911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13536" y="1507362"/>
            <a:ext cx="5273675" cy="41135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10-Sep-26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272773" y="6470114"/>
            <a:ext cx="235712" cy="188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11112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pPr marL="111125">
                <a:lnSpc>
                  <a:spcPct val="100000"/>
                </a:lnSpc>
                <a:spcBef>
                  <a:spcPts val="35"/>
                </a:spcBef>
              </a:pPr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Rohanchalluri/Seasonal_Agriculture_Performance_Analysis-.git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941" y="6482814"/>
            <a:ext cx="175260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5"/>
              </a:lnSpc>
              <a:tabLst>
                <a:tab pos="784860" algn="l"/>
              </a:tabLst>
            </a:pPr>
            <a:r>
              <a:rPr sz="1100" spc="-10" dirty="0">
                <a:solidFill>
                  <a:srgbClr val="2D83C3"/>
                </a:solidFill>
                <a:latin typeface="Trebuchet MS"/>
                <a:cs typeface="Trebuchet MS"/>
              </a:rPr>
              <a:t>9/4/2026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	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Annual</a:t>
            </a:r>
            <a:r>
              <a:rPr sz="1100" b="1" spc="-15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2D83C3"/>
                </a:solidFill>
                <a:latin typeface="Trebuchet MS"/>
                <a:cs typeface="Trebuchet MS"/>
              </a:rPr>
              <a:t>Review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71326" y="6461556"/>
            <a:ext cx="9906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solidFill>
                  <a:srgbClr val="2D936B"/>
                </a:solidFill>
                <a:latin typeface="Trebuchet MS"/>
                <a:cs typeface="Trebuchet MS"/>
              </a:rPr>
              <a:t>1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40308" y="1101344"/>
            <a:ext cx="1749425" cy="1341755"/>
            <a:chOff x="740308" y="1101344"/>
            <a:chExt cx="1749425" cy="1341755"/>
          </a:xfrm>
        </p:grpSpPr>
        <p:sp>
          <p:nvSpPr>
            <p:cNvPr id="5" name="object 5"/>
            <p:cNvSpPr/>
            <p:nvPr/>
          </p:nvSpPr>
          <p:spPr>
            <a:xfrm>
              <a:off x="740308" y="1382776"/>
              <a:ext cx="1229995" cy="1060450"/>
            </a:xfrm>
            <a:custGeom>
              <a:avLst/>
              <a:gdLst/>
              <a:ahLst/>
              <a:cxnLst/>
              <a:rect l="l" t="t" r="r" b="b"/>
              <a:pathLst>
                <a:path w="1229995" h="1060450">
                  <a:moveTo>
                    <a:pt x="964539" y="0"/>
                  </a:moveTo>
                  <a:lnTo>
                    <a:pt x="264998" y="0"/>
                  </a:lnTo>
                  <a:lnTo>
                    <a:pt x="0" y="529971"/>
                  </a:lnTo>
                  <a:lnTo>
                    <a:pt x="264998" y="1059941"/>
                  </a:lnTo>
                  <a:lnTo>
                    <a:pt x="964539" y="1059941"/>
                  </a:lnTo>
                  <a:lnTo>
                    <a:pt x="1229588" y="529971"/>
                  </a:lnTo>
                  <a:lnTo>
                    <a:pt x="964539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37816" y="1101344"/>
              <a:ext cx="652145" cy="561975"/>
            </a:xfrm>
            <a:custGeom>
              <a:avLst/>
              <a:gdLst/>
              <a:ahLst/>
              <a:cxnLst/>
              <a:rect l="l" t="t" r="r" b="b"/>
              <a:pathLst>
                <a:path w="652144" h="561975">
                  <a:moveTo>
                    <a:pt x="511175" y="0"/>
                  </a:moveTo>
                  <a:lnTo>
                    <a:pt x="140462" y="0"/>
                  </a:lnTo>
                  <a:lnTo>
                    <a:pt x="0" y="280796"/>
                  </a:lnTo>
                  <a:lnTo>
                    <a:pt x="140462" y="561720"/>
                  </a:lnTo>
                  <a:lnTo>
                    <a:pt x="511175" y="561720"/>
                  </a:lnTo>
                  <a:lnTo>
                    <a:pt x="651637" y="280796"/>
                  </a:lnTo>
                  <a:lnTo>
                    <a:pt x="5111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3755009" y="1194561"/>
            <a:ext cx="1666239" cy="1436370"/>
          </a:xfrm>
          <a:custGeom>
            <a:avLst/>
            <a:gdLst/>
            <a:ahLst/>
            <a:cxnLst/>
            <a:rect l="l" t="t" r="r" b="b"/>
            <a:pathLst>
              <a:path w="1666239" h="1436370">
                <a:moveTo>
                  <a:pt x="1307083" y="0"/>
                </a:moveTo>
                <a:lnTo>
                  <a:pt x="359155" y="0"/>
                </a:lnTo>
                <a:lnTo>
                  <a:pt x="0" y="718185"/>
                </a:lnTo>
                <a:lnTo>
                  <a:pt x="359155" y="1436370"/>
                </a:lnTo>
                <a:lnTo>
                  <a:pt x="1307083" y="1436370"/>
                </a:lnTo>
                <a:lnTo>
                  <a:pt x="1666239" y="718185"/>
                </a:lnTo>
                <a:lnTo>
                  <a:pt x="1307083" y="0"/>
                </a:lnTo>
                <a:close/>
              </a:path>
            </a:pathLst>
          </a:custGeom>
          <a:solidFill>
            <a:srgbClr val="42D0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05046" y="5233161"/>
            <a:ext cx="718185" cy="619760"/>
          </a:xfrm>
          <a:custGeom>
            <a:avLst/>
            <a:gdLst/>
            <a:ahLst/>
            <a:cxnLst/>
            <a:rect l="l" t="t" r="r" b="b"/>
            <a:pathLst>
              <a:path w="718185" h="619760">
                <a:moveTo>
                  <a:pt x="563372" y="0"/>
                </a:moveTo>
                <a:lnTo>
                  <a:pt x="154686" y="0"/>
                </a:lnTo>
                <a:lnTo>
                  <a:pt x="0" y="309625"/>
                </a:lnTo>
                <a:lnTo>
                  <a:pt x="154686" y="619213"/>
                </a:lnTo>
                <a:lnTo>
                  <a:pt x="563372" y="619213"/>
                </a:lnTo>
                <a:lnTo>
                  <a:pt x="718185" y="309625"/>
                </a:lnTo>
                <a:lnTo>
                  <a:pt x="563372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5870828" y="1871852"/>
            <a:ext cx="139636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0" spc="-10" dirty="0">
                <a:latin typeface="Trebuchet MS"/>
                <a:cs typeface="Trebuchet MS"/>
              </a:rPr>
              <a:t>Seasonal Analysis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96936" y="1871852"/>
            <a:ext cx="1791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rebuchet MS"/>
                <a:cs typeface="Trebuchet MS"/>
              </a:rPr>
              <a:t>Agriculture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18142" y="1871852"/>
            <a:ext cx="20421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rebuchet MS"/>
                <a:cs typeface="Trebuchet MS"/>
              </a:rPr>
              <a:t>Performance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86401" y="3404205"/>
            <a:ext cx="5380608" cy="1407436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1700" b="1" dirty="0">
                <a:latin typeface="Trebuchet MS"/>
                <a:cs typeface="Trebuchet MS"/>
              </a:rPr>
              <a:t>Student</a:t>
            </a:r>
            <a:r>
              <a:rPr sz="1700" b="1" spc="-15" dirty="0">
                <a:latin typeface="Trebuchet MS"/>
                <a:cs typeface="Trebuchet MS"/>
              </a:rPr>
              <a:t> </a:t>
            </a:r>
            <a:r>
              <a:rPr sz="1700" b="1" dirty="0">
                <a:latin typeface="Trebuchet MS"/>
                <a:cs typeface="Trebuchet MS"/>
              </a:rPr>
              <a:t>Name</a:t>
            </a:r>
            <a:r>
              <a:rPr sz="1700">
                <a:latin typeface="Trebuchet MS"/>
                <a:cs typeface="Trebuchet MS"/>
              </a:rPr>
              <a:t>:</a:t>
            </a:r>
            <a:r>
              <a:rPr sz="1700" spc="-10">
                <a:latin typeface="Trebuchet MS"/>
                <a:cs typeface="Trebuchet MS"/>
              </a:rPr>
              <a:t> </a:t>
            </a:r>
            <a:r>
              <a:rPr lang="en-US" sz="1700" spc="-10" dirty="0" smtClean="0">
                <a:latin typeface="Trebuchet MS"/>
                <a:cs typeface="Trebuchet MS"/>
              </a:rPr>
              <a:t>CHALLURI ROHAN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700" b="1" smtClean="0">
                <a:latin typeface="Trebuchet MS"/>
                <a:cs typeface="Trebuchet MS"/>
              </a:rPr>
              <a:t>College</a:t>
            </a:r>
            <a:r>
              <a:rPr sz="1700" b="1" spc="-45" smtClean="0">
                <a:latin typeface="Trebuchet MS"/>
                <a:cs typeface="Trebuchet MS"/>
              </a:rPr>
              <a:t> </a:t>
            </a:r>
            <a:r>
              <a:rPr sz="1700" b="1" smtClean="0">
                <a:latin typeface="Trebuchet MS"/>
                <a:cs typeface="Trebuchet MS"/>
              </a:rPr>
              <a:t>Name</a:t>
            </a:r>
            <a:r>
              <a:rPr sz="1700" smtClean="0">
                <a:latin typeface="Trebuchet MS"/>
                <a:cs typeface="Trebuchet MS"/>
              </a:rPr>
              <a:t>:</a:t>
            </a:r>
            <a:r>
              <a:rPr sz="1700" spc="-25" smtClean="0">
                <a:latin typeface="Trebuchet MS"/>
                <a:cs typeface="Trebuchet MS"/>
              </a:rPr>
              <a:t> </a:t>
            </a:r>
            <a:r>
              <a:rPr lang="en-US" sz="1700" spc="-25" dirty="0" smtClean="0">
                <a:latin typeface="Trebuchet MS"/>
                <a:cs typeface="Trebuchet MS"/>
              </a:rPr>
              <a:t>VAAGDEVI COLLEGE OF ENGINEERING</a:t>
            </a:r>
            <a:endParaRPr sz="1700" smtClean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Trebuchet MS"/>
                <a:cs typeface="Trebuchet MS"/>
              </a:rPr>
              <a:t>AICTE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STU</a:t>
            </a:r>
            <a:r>
              <a:rPr sz="1800" b="1" spc="-10" dirty="0">
                <a:latin typeface="Trebuchet MS"/>
                <a:cs typeface="Trebuchet MS"/>
              </a:rPr>
              <a:t> </a:t>
            </a:r>
            <a:r>
              <a:rPr sz="1800" b="1">
                <a:latin typeface="Trebuchet MS"/>
                <a:cs typeface="Trebuchet MS"/>
              </a:rPr>
              <a:t>ID</a:t>
            </a:r>
            <a:r>
              <a:rPr sz="1800" b="1" spc="-20">
                <a:latin typeface="Trebuchet MS"/>
                <a:cs typeface="Trebuchet MS"/>
              </a:rPr>
              <a:t> </a:t>
            </a:r>
            <a:r>
              <a:rPr sz="1800" b="1" smtClean="0">
                <a:latin typeface="Trebuchet MS"/>
                <a:cs typeface="Trebuchet MS"/>
              </a:rPr>
              <a:t>:</a:t>
            </a:r>
            <a:r>
              <a:rPr lang="en-US" dirty="0" smtClean="0"/>
              <a:t>STU66c0d295d67d51723912853 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557" y="6471920"/>
            <a:ext cx="76200" cy="1715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9241" y="6461556"/>
            <a:ext cx="61087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D83C3"/>
                </a:solidFill>
                <a:latin typeface="Trebuchet MS"/>
                <a:cs typeface="Trebuchet MS"/>
              </a:rPr>
              <a:t>9/4/2026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24380" y="6461556"/>
            <a:ext cx="9925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Annual</a:t>
            </a:r>
            <a:r>
              <a:rPr sz="1100" b="1" spc="-15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2D83C3"/>
                </a:solidFill>
                <a:latin typeface="Trebuchet MS"/>
                <a:cs typeface="Trebuchet MS"/>
              </a:rPr>
              <a:t>Review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71326" y="6461556"/>
            <a:ext cx="9906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solidFill>
                  <a:srgbClr val="2D936B"/>
                </a:solidFill>
                <a:latin typeface="Trebuchet MS"/>
                <a:cs typeface="Trebuchet MS"/>
              </a:rPr>
              <a:t>2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995666" y="2930829"/>
            <a:ext cx="2760980" cy="3264535"/>
            <a:chOff x="7995666" y="2930829"/>
            <a:chExt cx="2760980" cy="3264535"/>
          </a:xfrm>
        </p:grpSpPr>
        <p:sp>
          <p:nvSpPr>
            <p:cNvPr id="6" name="object 6"/>
            <p:cNvSpPr/>
            <p:nvPr/>
          </p:nvSpPr>
          <p:spPr>
            <a:xfrm>
              <a:off x="9354439" y="536398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54439" y="5897740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40" h="180339">
                  <a:moveTo>
                    <a:pt x="179971" y="0"/>
                  </a:moveTo>
                  <a:lnTo>
                    <a:pt x="0" y="0"/>
                  </a:lnTo>
                  <a:lnTo>
                    <a:pt x="0" y="179971"/>
                  </a:lnTo>
                  <a:lnTo>
                    <a:pt x="179971" y="179971"/>
                  </a:lnTo>
                  <a:lnTo>
                    <a:pt x="179971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5666" y="2930829"/>
              <a:ext cx="2760726" cy="3264408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6692772" y="1699933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319747" y="0"/>
                </a:moveTo>
                <a:lnTo>
                  <a:pt x="0" y="0"/>
                </a:lnTo>
                <a:lnTo>
                  <a:pt x="0" y="319747"/>
                </a:lnTo>
                <a:lnTo>
                  <a:pt x="319747" y="319747"/>
                </a:lnTo>
                <a:lnTo>
                  <a:pt x="319747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5423" y="1880717"/>
            <a:ext cx="5125720" cy="3542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10000"/>
              </a:lnSpc>
              <a:spcBef>
                <a:spcPts val="100"/>
              </a:spcBef>
              <a:buClr>
                <a:srgbClr val="2D936B"/>
              </a:buClr>
              <a:buSzPct val="79411"/>
              <a:buFont typeface="Wingdings"/>
              <a:buChar char=""/>
              <a:tabLst>
                <a:tab pos="355600" algn="l"/>
              </a:tabLst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Agricultural</a:t>
            </a:r>
            <a:r>
              <a:rPr sz="17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performance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shaped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by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seasonal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variation</a:t>
            </a:r>
            <a:r>
              <a:rPr sz="17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rainfall,</a:t>
            </a:r>
            <a:r>
              <a:rPr sz="17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temperature,</a:t>
            </a:r>
            <a:r>
              <a:rPr sz="17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soil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conditions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7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resource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availability.</a:t>
            </a:r>
            <a:endParaRPr sz="1700">
              <a:latin typeface="Trebuchet MS"/>
              <a:cs typeface="Trebuchet MS"/>
            </a:endParaRPr>
          </a:p>
          <a:p>
            <a:pPr marL="354330" marR="61594" indent="-342265" algn="just">
              <a:lnSpc>
                <a:spcPct val="110000"/>
              </a:lnSpc>
              <a:spcBef>
                <a:spcPts val="1005"/>
              </a:spcBef>
              <a:buClr>
                <a:srgbClr val="2D936B"/>
              </a:buClr>
              <a:buSzPct val="79411"/>
              <a:buFont typeface="Wingdings"/>
              <a:buChar char=""/>
              <a:tabLst>
                <a:tab pos="355600" algn="l"/>
              </a:tabLst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Raw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farm-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level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data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does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not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clearly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reveal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how 	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yield,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cost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profit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differ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between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Kharif, 	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Rabi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Zaid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seasons.</a:t>
            </a:r>
            <a:endParaRPr sz="1700">
              <a:latin typeface="Trebuchet MS"/>
              <a:cs typeface="Trebuchet MS"/>
            </a:endParaRPr>
          </a:p>
          <a:p>
            <a:pPr marL="355600" marR="326390" indent="-343535">
              <a:lnSpc>
                <a:spcPct val="110000"/>
              </a:lnSpc>
              <a:spcBef>
                <a:spcPts val="994"/>
              </a:spcBef>
              <a:buClr>
                <a:srgbClr val="2D936B"/>
              </a:buClr>
              <a:buSzPct val="79411"/>
              <a:buFont typeface="Wingdings"/>
              <a:buChar char=""/>
              <a:tabLst>
                <a:tab pos="355600" algn="l"/>
              </a:tabLst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Problem:</a:t>
            </a: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analyze</a:t>
            </a:r>
            <a:r>
              <a:rPr sz="17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seasonal</a:t>
            </a:r>
            <a:r>
              <a:rPr sz="17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agriculture</a:t>
            </a:r>
            <a:r>
              <a:rPr sz="17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data</a:t>
            </a:r>
            <a:r>
              <a:rPr sz="17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to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uncover</a:t>
            </a:r>
            <a:r>
              <a:rPr sz="17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meaningful</a:t>
            </a:r>
            <a:r>
              <a:rPr sz="17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patterns,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trends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and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relationships</a:t>
            </a:r>
            <a:r>
              <a:rPr sz="17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performance</a:t>
            </a:r>
            <a:r>
              <a:rPr sz="17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across</a:t>
            </a: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seasons.</a:t>
            </a:r>
            <a:endParaRPr sz="1700">
              <a:latin typeface="Trebuchet MS"/>
              <a:cs typeface="Trebuchet MS"/>
            </a:endParaRPr>
          </a:p>
          <a:p>
            <a:pPr marL="355600" marR="276225" indent="-343535">
              <a:lnSpc>
                <a:spcPct val="110000"/>
              </a:lnSpc>
              <a:spcBef>
                <a:spcPts val="1000"/>
              </a:spcBef>
              <a:buClr>
                <a:srgbClr val="2D936B"/>
              </a:buClr>
              <a:buSzPct val="79411"/>
              <a:buFont typeface="Wingdings"/>
              <a:buChar char=""/>
              <a:tabLst>
                <a:tab pos="355600" algn="l"/>
              </a:tabLst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Goal: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support</a:t>
            </a:r>
            <a:r>
              <a:rPr sz="17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evidence-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based,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season-specific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agricultural</a:t>
            </a:r>
            <a:r>
              <a:rPr sz="17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planning</a:t>
            </a:r>
            <a:r>
              <a:rPr sz="17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decision-making.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801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95"/>
              </a:spcBef>
            </a:pPr>
            <a:r>
              <a:rPr sz="4300" dirty="0"/>
              <a:t>PROBLEM</a:t>
            </a:r>
            <a:r>
              <a:rPr sz="4300" spc="-105" dirty="0"/>
              <a:t>  </a:t>
            </a:r>
            <a:r>
              <a:rPr sz="4300" spc="-70" dirty="0"/>
              <a:t>STATEMENT</a:t>
            </a:r>
            <a:endParaRPr sz="4300"/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420546" y="-4762"/>
            <a:ext cx="4773295" cy="6867525"/>
            <a:chOff x="7420546" y="-4762"/>
            <a:chExt cx="4773295" cy="6867525"/>
          </a:xfrm>
        </p:grpSpPr>
        <p:sp>
          <p:nvSpPr>
            <p:cNvPr id="4" name="object 4"/>
            <p:cNvSpPr/>
            <p:nvPr/>
          </p:nvSpPr>
          <p:spPr>
            <a:xfrm>
              <a:off x="7425308" y="0"/>
              <a:ext cx="4763770" cy="6858000"/>
            </a:xfrm>
            <a:custGeom>
              <a:avLst/>
              <a:gdLst/>
              <a:ahLst/>
              <a:cxnLst/>
              <a:rect l="l" t="t" r="r" b="b"/>
              <a:pathLst>
                <a:path w="4763770" h="6858000">
                  <a:moveTo>
                    <a:pt x="1945640" y="0"/>
                  </a:moveTo>
                  <a:lnTo>
                    <a:pt x="3164840" y="6857999"/>
                  </a:lnTo>
                </a:path>
                <a:path w="4763770" h="6858000">
                  <a:moveTo>
                    <a:pt x="4763516" y="3681349"/>
                  </a:moveTo>
                  <a:lnTo>
                    <a:pt x="0" y="6857999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81464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>
                  <a:moveTo>
                    <a:pt x="3007359" y="0"/>
                  </a:moveTo>
                  <a:lnTo>
                    <a:pt x="2043054" y="0"/>
                  </a:lnTo>
                  <a:lnTo>
                    <a:pt x="0" y="6858000"/>
                  </a:lnTo>
                  <a:lnTo>
                    <a:pt x="3007359" y="6858000"/>
                  </a:lnTo>
                  <a:lnTo>
                    <a:pt x="300735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04984" y="0"/>
              <a:ext cx="2587625" cy="6858000"/>
            </a:xfrm>
            <a:custGeom>
              <a:avLst/>
              <a:gdLst/>
              <a:ahLst/>
              <a:cxnLst/>
              <a:rect l="l" t="t" r="r" b="b"/>
              <a:pathLst>
                <a:path w="2587625" h="6858000">
                  <a:moveTo>
                    <a:pt x="2587015" y="0"/>
                  </a:moveTo>
                  <a:lnTo>
                    <a:pt x="0" y="0"/>
                  </a:lnTo>
                  <a:lnTo>
                    <a:pt x="1207922" y="6858000"/>
                  </a:lnTo>
                  <a:lnTo>
                    <a:pt x="2587015" y="6858000"/>
                  </a:lnTo>
                  <a:lnTo>
                    <a:pt x="2587015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32290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>
                  <a:moveTo>
                    <a:pt x="3259708" y="0"/>
                  </a:moveTo>
                  <a:lnTo>
                    <a:pt x="0" y="3809999"/>
                  </a:lnTo>
                  <a:lnTo>
                    <a:pt x="3259708" y="3809999"/>
                  </a:lnTo>
                  <a:lnTo>
                    <a:pt x="3259708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37561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>
                  <a:moveTo>
                    <a:pt x="2851263" y="0"/>
                  </a:moveTo>
                  <a:lnTo>
                    <a:pt x="0" y="0"/>
                  </a:lnTo>
                  <a:lnTo>
                    <a:pt x="2467723" y="6858000"/>
                  </a:lnTo>
                  <a:lnTo>
                    <a:pt x="2851263" y="6858000"/>
                  </a:lnTo>
                  <a:lnTo>
                    <a:pt x="2851263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98758" y="0"/>
              <a:ext cx="1290320" cy="6858000"/>
            </a:xfrm>
            <a:custGeom>
              <a:avLst/>
              <a:gdLst/>
              <a:ahLst/>
              <a:cxnLst/>
              <a:rect l="l" t="t" r="r" b="b"/>
              <a:pathLst>
                <a:path w="1290320" h="6858000">
                  <a:moveTo>
                    <a:pt x="1290066" y="0"/>
                  </a:moveTo>
                  <a:lnTo>
                    <a:pt x="1018419" y="0"/>
                  </a:lnTo>
                  <a:lnTo>
                    <a:pt x="0" y="6858000"/>
                  </a:lnTo>
                  <a:lnTo>
                    <a:pt x="1290066" y="6858000"/>
                  </a:lnTo>
                  <a:lnTo>
                    <a:pt x="1290066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940392" y="0"/>
              <a:ext cx="1249045" cy="6858000"/>
            </a:xfrm>
            <a:custGeom>
              <a:avLst/>
              <a:gdLst/>
              <a:ahLst/>
              <a:cxnLst/>
              <a:rect l="l" t="t" r="r" b="b"/>
              <a:pathLst>
                <a:path w="1249045" h="6858000">
                  <a:moveTo>
                    <a:pt x="1248432" y="0"/>
                  </a:moveTo>
                  <a:lnTo>
                    <a:pt x="0" y="0"/>
                  </a:lnTo>
                  <a:lnTo>
                    <a:pt x="1107970" y="6858000"/>
                  </a:lnTo>
                  <a:lnTo>
                    <a:pt x="1248432" y="6858000"/>
                  </a:lnTo>
                  <a:lnTo>
                    <a:pt x="124843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71708" y="3589909"/>
              <a:ext cx="1817370" cy="3268345"/>
            </a:xfrm>
            <a:custGeom>
              <a:avLst/>
              <a:gdLst/>
              <a:ahLst/>
              <a:cxnLst/>
              <a:rect l="l" t="t" r="r" b="b"/>
              <a:pathLst>
                <a:path w="1817370" h="3268345">
                  <a:moveTo>
                    <a:pt x="1817116" y="0"/>
                  </a:moveTo>
                  <a:lnTo>
                    <a:pt x="0" y="3268090"/>
                  </a:lnTo>
                  <a:lnTo>
                    <a:pt x="1817116" y="3268090"/>
                  </a:lnTo>
                  <a:lnTo>
                    <a:pt x="1817116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0" y="4013200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0" y="0"/>
                </a:moveTo>
                <a:lnTo>
                  <a:pt x="0" y="2844799"/>
                </a:lnTo>
                <a:lnTo>
                  <a:pt x="448729" y="2844799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51941" y="6482814"/>
            <a:ext cx="175260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5"/>
              </a:lnSpc>
              <a:tabLst>
                <a:tab pos="784860" algn="l"/>
              </a:tabLst>
            </a:pPr>
            <a:r>
              <a:rPr sz="1100" spc="-10" dirty="0">
                <a:solidFill>
                  <a:srgbClr val="2D83C3"/>
                </a:solidFill>
                <a:latin typeface="Trebuchet MS"/>
                <a:cs typeface="Trebuchet MS"/>
              </a:rPr>
              <a:t>9/4/2026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	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Annual</a:t>
            </a:r>
            <a:r>
              <a:rPr sz="1100" b="1" spc="-15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2D83C3"/>
                </a:solidFill>
                <a:latin typeface="Trebuchet MS"/>
                <a:cs typeface="Trebuchet MS"/>
              </a:rPr>
              <a:t>Review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354439" y="536398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92772" y="1699933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319747" y="0"/>
                </a:moveTo>
                <a:lnTo>
                  <a:pt x="0" y="0"/>
                </a:lnTo>
                <a:lnTo>
                  <a:pt x="0" y="319747"/>
                </a:lnTo>
                <a:lnTo>
                  <a:pt x="319747" y="319747"/>
                </a:lnTo>
                <a:lnTo>
                  <a:pt x="319747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354439" y="5897740"/>
            <a:ext cx="180340" cy="180340"/>
          </a:xfrm>
          <a:custGeom>
            <a:avLst/>
            <a:gdLst/>
            <a:ahLst/>
            <a:cxnLst/>
            <a:rect l="l" t="t" r="r" b="b"/>
            <a:pathLst>
              <a:path w="180340" h="180339">
                <a:moveTo>
                  <a:pt x="179971" y="0"/>
                </a:moveTo>
                <a:lnTo>
                  <a:pt x="0" y="0"/>
                </a:lnTo>
                <a:lnTo>
                  <a:pt x="0" y="179971"/>
                </a:lnTo>
                <a:lnTo>
                  <a:pt x="179971" y="179971"/>
                </a:lnTo>
                <a:lnTo>
                  <a:pt x="179971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739241" y="820292"/>
            <a:ext cx="55378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Project</a:t>
            </a:r>
            <a:r>
              <a:rPr sz="4800" spc="-45" dirty="0"/>
              <a:t> </a:t>
            </a:r>
            <a:r>
              <a:rPr sz="4800" spc="-10" dirty="0"/>
              <a:t>Description</a:t>
            </a:r>
            <a:endParaRPr sz="4800"/>
          </a:p>
        </p:txBody>
      </p:sp>
      <p:grpSp>
        <p:nvGrpSpPr>
          <p:cNvPr id="18" name="object 18"/>
          <p:cNvGrpSpPr/>
          <p:nvPr/>
        </p:nvGrpSpPr>
        <p:grpSpPr>
          <a:xfrm>
            <a:off x="467359" y="6410464"/>
            <a:ext cx="3706495" cy="296545"/>
            <a:chOff x="467359" y="6410464"/>
            <a:chExt cx="3706495" cy="29654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5957" y="6471919"/>
              <a:ext cx="2143125" cy="19304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7359" y="6410464"/>
              <a:ext cx="3706241" cy="296087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833424" y="1852929"/>
            <a:ext cx="5623560" cy="35007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89890">
              <a:lnSpc>
                <a:spcPct val="120000"/>
              </a:lnSpc>
              <a:spcBef>
                <a:spcPts val="100"/>
              </a:spcBef>
            </a:pPr>
            <a:r>
              <a:rPr sz="1500" dirty="0">
                <a:latin typeface="Trebuchet MS"/>
                <a:cs typeface="Trebuchet MS"/>
              </a:rPr>
              <a:t>Dataset:</a:t>
            </a:r>
            <a:r>
              <a:rPr sz="1500" spc="-5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4,000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farm-level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records</a:t>
            </a:r>
            <a:r>
              <a:rPr sz="1500" spc="-5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spanning</a:t>
            </a:r>
            <a:r>
              <a:rPr sz="1500" spc="-2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8</a:t>
            </a:r>
            <a:r>
              <a:rPr sz="1500" spc="-3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Indian</a:t>
            </a:r>
            <a:r>
              <a:rPr sz="1500" spc="-3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states,</a:t>
            </a:r>
            <a:r>
              <a:rPr sz="1500" spc="-50" dirty="0">
                <a:latin typeface="Trebuchet MS"/>
                <a:cs typeface="Trebuchet MS"/>
              </a:rPr>
              <a:t> 8 </a:t>
            </a:r>
            <a:r>
              <a:rPr sz="1500" dirty="0">
                <a:latin typeface="Trebuchet MS"/>
                <a:cs typeface="Trebuchet MS"/>
              </a:rPr>
              <a:t>crops</a:t>
            </a:r>
            <a:r>
              <a:rPr sz="1500" spc="-3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and</a:t>
            </a:r>
            <a:r>
              <a:rPr sz="1500" spc="-2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3</a:t>
            </a:r>
            <a:r>
              <a:rPr sz="1500" spc="-2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cropping</a:t>
            </a:r>
            <a:r>
              <a:rPr sz="1500" spc="-4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seasons</a:t>
            </a:r>
            <a:r>
              <a:rPr sz="1500" spc="-1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—</a:t>
            </a:r>
            <a:r>
              <a:rPr sz="1500" spc="-1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Kharif,</a:t>
            </a:r>
            <a:r>
              <a:rPr sz="1500" spc="-4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Rabi</a:t>
            </a:r>
            <a:r>
              <a:rPr sz="1500" spc="-2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and</a:t>
            </a:r>
            <a:r>
              <a:rPr sz="1500" spc="-30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Zaid.</a:t>
            </a:r>
            <a:endParaRPr sz="1500">
              <a:latin typeface="Trebuchet MS"/>
              <a:cs typeface="Trebuchet MS"/>
            </a:endParaRPr>
          </a:p>
          <a:p>
            <a:pPr marL="12700" marR="132080">
              <a:lnSpc>
                <a:spcPct val="120100"/>
              </a:lnSpc>
              <a:spcBef>
                <a:spcPts val="1195"/>
              </a:spcBef>
            </a:pPr>
            <a:r>
              <a:rPr sz="1500" dirty="0">
                <a:latin typeface="Trebuchet MS"/>
                <a:cs typeface="Trebuchet MS"/>
              </a:rPr>
              <a:t>Captures</a:t>
            </a:r>
            <a:r>
              <a:rPr sz="1500" spc="-6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environmental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conditions</a:t>
            </a:r>
            <a:r>
              <a:rPr sz="1500" spc="-6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(rainfall,</a:t>
            </a:r>
            <a:r>
              <a:rPr sz="1500" spc="-75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temperature, </a:t>
            </a:r>
            <a:r>
              <a:rPr sz="1500" spc="-25" dirty="0">
                <a:latin typeface="Trebuchet MS"/>
                <a:cs typeface="Trebuchet MS"/>
              </a:rPr>
              <a:t>humidity,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soil),</a:t>
            </a:r>
            <a:r>
              <a:rPr sz="1500" spc="-5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resource</a:t>
            </a:r>
            <a:r>
              <a:rPr sz="1500" spc="-5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usage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spc="-25" dirty="0">
                <a:latin typeface="Trebuchet MS"/>
                <a:cs typeface="Trebuchet MS"/>
              </a:rPr>
              <a:t>(water,</a:t>
            </a:r>
            <a:r>
              <a:rPr sz="1500" spc="-40" dirty="0">
                <a:latin typeface="Trebuchet MS"/>
                <a:cs typeface="Trebuchet MS"/>
              </a:rPr>
              <a:t> </a:t>
            </a:r>
            <a:r>
              <a:rPr sz="1500" spc="-25" dirty="0">
                <a:latin typeface="Trebuchet MS"/>
                <a:cs typeface="Trebuchet MS"/>
              </a:rPr>
              <a:t>fertilizer,</a:t>
            </a:r>
            <a:r>
              <a:rPr sz="1500" spc="-6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pesticide),</a:t>
            </a:r>
            <a:r>
              <a:rPr sz="1500" spc="-65" dirty="0">
                <a:latin typeface="Trebuchet MS"/>
                <a:cs typeface="Trebuchet MS"/>
              </a:rPr>
              <a:t> </a:t>
            </a:r>
            <a:r>
              <a:rPr sz="1500" spc="-25" dirty="0">
                <a:latin typeface="Trebuchet MS"/>
                <a:cs typeface="Trebuchet MS"/>
              </a:rPr>
              <a:t>and </a:t>
            </a:r>
            <a:r>
              <a:rPr sz="1500" dirty="0">
                <a:latin typeface="Trebuchet MS"/>
                <a:cs typeface="Trebuchet MS"/>
              </a:rPr>
              <a:t>economic</a:t>
            </a:r>
            <a:r>
              <a:rPr sz="1500" spc="-6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outcomes</a:t>
            </a:r>
            <a:r>
              <a:rPr sz="1500" spc="-5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(cost,</a:t>
            </a:r>
            <a:r>
              <a:rPr sz="1500" spc="-5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revenue,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profit).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20000"/>
              </a:lnSpc>
              <a:spcBef>
                <a:spcPts val="1200"/>
              </a:spcBef>
            </a:pPr>
            <a:r>
              <a:rPr sz="1500" dirty="0">
                <a:latin typeface="Trebuchet MS"/>
                <a:cs typeface="Trebuchet MS"/>
              </a:rPr>
              <a:t>Objective: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clean</a:t>
            </a:r>
            <a:r>
              <a:rPr sz="1500" spc="-3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and</a:t>
            </a:r>
            <a:r>
              <a:rPr sz="1500" spc="-3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explore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the</a:t>
            </a:r>
            <a:r>
              <a:rPr sz="1500" spc="-3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data,</a:t>
            </a:r>
            <a:r>
              <a:rPr sz="1500" spc="-4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identify</a:t>
            </a:r>
            <a:r>
              <a:rPr sz="1500" spc="-4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seasonal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patterns </a:t>
            </a:r>
            <a:r>
              <a:rPr sz="1500" dirty="0">
                <a:latin typeface="Trebuchet MS"/>
                <a:cs typeface="Trebuchet MS"/>
              </a:rPr>
              <a:t>and</a:t>
            </a:r>
            <a:r>
              <a:rPr sz="1500" spc="-2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relationships,</a:t>
            </a:r>
            <a:r>
              <a:rPr sz="1500" spc="-3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and</a:t>
            </a:r>
            <a:r>
              <a:rPr sz="1500" spc="-3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derive</a:t>
            </a:r>
            <a:r>
              <a:rPr sz="1500" spc="-35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evidence-</a:t>
            </a:r>
            <a:r>
              <a:rPr sz="1500" dirty="0">
                <a:latin typeface="Trebuchet MS"/>
                <a:cs typeface="Trebuchet MS"/>
              </a:rPr>
              <a:t>based</a:t>
            </a:r>
            <a:r>
              <a:rPr sz="1500" spc="-50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recommendations </a:t>
            </a:r>
            <a:r>
              <a:rPr sz="1500" dirty="0">
                <a:latin typeface="Trebuchet MS"/>
                <a:cs typeface="Trebuchet MS"/>
              </a:rPr>
              <a:t>for</a:t>
            </a:r>
            <a:r>
              <a:rPr sz="1500" spc="-5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seasonal</a:t>
            </a:r>
            <a:r>
              <a:rPr sz="1500" spc="-5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agricultural</a:t>
            </a:r>
            <a:r>
              <a:rPr sz="1500" spc="-55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planning.</a:t>
            </a:r>
            <a:endParaRPr sz="1500">
              <a:latin typeface="Trebuchet MS"/>
              <a:cs typeface="Trebuchet MS"/>
            </a:endParaRPr>
          </a:p>
          <a:p>
            <a:pPr marL="12700" marR="161925">
              <a:lnSpc>
                <a:spcPct val="120000"/>
              </a:lnSpc>
              <a:spcBef>
                <a:spcPts val="1205"/>
              </a:spcBef>
            </a:pPr>
            <a:r>
              <a:rPr sz="1500" dirty="0">
                <a:latin typeface="Trebuchet MS"/>
                <a:cs typeface="Trebuchet MS"/>
              </a:rPr>
              <a:t>Approach:</a:t>
            </a:r>
            <a:r>
              <a:rPr sz="1500" spc="-5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exploratory</a:t>
            </a:r>
            <a:r>
              <a:rPr sz="1500" spc="-6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data</a:t>
            </a:r>
            <a:r>
              <a:rPr sz="1500" spc="-5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analysis,</a:t>
            </a:r>
            <a:r>
              <a:rPr sz="1500" spc="-5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statistical</a:t>
            </a:r>
            <a:r>
              <a:rPr sz="1500" spc="-6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testing</a:t>
            </a:r>
            <a:r>
              <a:rPr sz="1500" spc="-50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(ANOVA) </a:t>
            </a:r>
            <a:r>
              <a:rPr sz="1500" dirty="0">
                <a:latin typeface="Trebuchet MS"/>
                <a:cs typeface="Trebuchet MS"/>
              </a:rPr>
              <a:t>and</a:t>
            </a:r>
            <a:r>
              <a:rPr sz="1500" spc="-3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visualization</a:t>
            </a:r>
            <a:r>
              <a:rPr sz="1500" spc="-6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using</a:t>
            </a:r>
            <a:r>
              <a:rPr sz="1500" spc="-3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Python,</a:t>
            </a:r>
            <a:r>
              <a:rPr sz="1500" spc="-4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documented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end-</a:t>
            </a:r>
            <a:r>
              <a:rPr sz="1500" spc="-10" dirty="0">
                <a:latin typeface="Trebuchet MS"/>
                <a:cs typeface="Trebuchet MS"/>
              </a:rPr>
              <a:t>to-</a:t>
            </a:r>
            <a:r>
              <a:rPr sz="1500" dirty="0">
                <a:latin typeface="Trebuchet MS"/>
                <a:cs typeface="Trebuchet MS"/>
              </a:rPr>
              <a:t>end</a:t>
            </a:r>
            <a:r>
              <a:rPr sz="1500" spc="-3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in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spc="-50" dirty="0">
                <a:latin typeface="Trebuchet MS"/>
                <a:cs typeface="Trebuchet MS"/>
              </a:rPr>
              <a:t>a </a:t>
            </a:r>
            <a:r>
              <a:rPr sz="1500" dirty="0">
                <a:latin typeface="Trebuchet MS"/>
                <a:cs typeface="Trebuchet MS"/>
              </a:rPr>
              <a:t>Jupyter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Notebook.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pPr marL="111125">
                <a:lnSpc>
                  <a:spcPct val="100000"/>
                </a:lnSpc>
                <a:spcBef>
                  <a:spcPts val="35"/>
                </a:spcBef>
              </a:pPr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941" y="6482814"/>
            <a:ext cx="175260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5"/>
              </a:lnSpc>
              <a:tabLst>
                <a:tab pos="784860" algn="l"/>
              </a:tabLst>
            </a:pPr>
            <a:r>
              <a:rPr sz="1100" spc="-10" dirty="0">
                <a:solidFill>
                  <a:srgbClr val="2D83C3"/>
                </a:solidFill>
                <a:latin typeface="Trebuchet MS"/>
                <a:cs typeface="Trebuchet MS"/>
              </a:rPr>
              <a:t>9/4/2026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	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Annual</a:t>
            </a:r>
            <a:r>
              <a:rPr sz="1100" b="1" spc="-15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2D83C3"/>
                </a:solidFill>
                <a:latin typeface="Trebuchet MS"/>
                <a:cs typeface="Trebuchet MS"/>
              </a:rPr>
              <a:t>Review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54439" y="536398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2772" y="1699933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319747" y="0"/>
                </a:moveTo>
                <a:lnTo>
                  <a:pt x="0" y="0"/>
                </a:lnTo>
                <a:lnTo>
                  <a:pt x="0" y="319747"/>
                </a:lnTo>
                <a:lnTo>
                  <a:pt x="319747" y="319747"/>
                </a:lnTo>
                <a:lnTo>
                  <a:pt x="319747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4439" y="5897740"/>
            <a:ext cx="180340" cy="180340"/>
          </a:xfrm>
          <a:custGeom>
            <a:avLst/>
            <a:gdLst/>
            <a:ahLst/>
            <a:cxnLst/>
            <a:rect l="l" t="t" r="r" b="b"/>
            <a:pathLst>
              <a:path w="180340" h="180339">
                <a:moveTo>
                  <a:pt x="179971" y="0"/>
                </a:moveTo>
                <a:lnTo>
                  <a:pt x="0" y="0"/>
                </a:lnTo>
                <a:lnTo>
                  <a:pt x="0" y="179971"/>
                </a:lnTo>
                <a:lnTo>
                  <a:pt x="179971" y="179971"/>
                </a:lnTo>
                <a:lnTo>
                  <a:pt x="179971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98703" y="897763"/>
            <a:ext cx="50222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WHO</a:t>
            </a:r>
            <a:r>
              <a:rPr sz="3200" spc="-215" dirty="0"/>
              <a:t> </a:t>
            </a:r>
            <a:r>
              <a:rPr sz="3200" dirty="0"/>
              <a:t>ARE</a:t>
            </a:r>
            <a:r>
              <a:rPr sz="3200" spc="-105" dirty="0"/>
              <a:t> </a:t>
            </a:r>
            <a:r>
              <a:rPr sz="3200" dirty="0"/>
              <a:t>THE</a:t>
            </a:r>
            <a:r>
              <a:rPr sz="3200" spc="-20" dirty="0"/>
              <a:t> </a:t>
            </a:r>
            <a:r>
              <a:rPr sz="3200" dirty="0"/>
              <a:t>END</a:t>
            </a:r>
            <a:r>
              <a:rPr sz="3200" spc="-25" dirty="0"/>
              <a:t> </a:t>
            </a:r>
            <a:r>
              <a:rPr sz="3200" spc="-10" dirty="0"/>
              <a:t>USERS?</a:t>
            </a:r>
            <a:endParaRPr sz="320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1359" y="6176797"/>
            <a:ext cx="2181225" cy="4857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4595" y="1949957"/>
            <a:ext cx="120002" cy="12001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83360" y="1897507"/>
            <a:ext cx="7660640" cy="3378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5FCAEE"/>
                </a:solidFill>
                <a:latin typeface="Trebuchet MS"/>
                <a:cs typeface="Trebuchet MS"/>
              </a:rPr>
              <a:t>Farmers</a:t>
            </a:r>
            <a:r>
              <a:rPr sz="1800" b="1" spc="-110" dirty="0">
                <a:solidFill>
                  <a:srgbClr val="5FCAEE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5FCAEE"/>
                </a:solidFill>
                <a:latin typeface="Trebuchet MS"/>
                <a:cs typeface="Trebuchet MS"/>
              </a:rPr>
              <a:t>&amp;</a:t>
            </a:r>
            <a:r>
              <a:rPr sz="1800" b="1" spc="-135" dirty="0">
                <a:solidFill>
                  <a:srgbClr val="5FCAEE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5FCAEE"/>
                </a:solidFill>
                <a:latin typeface="Trebuchet MS"/>
                <a:cs typeface="Trebuchet MS"/>
              </a:rPr>
              <a:t>Agronomists</a:t>
            </a:r>
            <a:endParaRPr sz="1800">
              <a:latin typeface="Trebuchet MS"/>
              <a:cs typeface="Trebuchet MS"/>
            </a:endParaRPr>
          </a:p>
          <a:p>
            <a:pPr marL="12700" marR="276860">
              <a:lnSpc>
                <a:spcPct val="100000"/>
              </a:lnSpc>
            </a:pPr>
            <a:r>
              <a:rPr sz="1500" dirty="0">
                <a:latin typeface="Trebuchet MS"/>
                <a:cs typeface="Trebuchet MS"/>
              </a:rPr>
              <a:t>Plan</a:t>
            </a:r>
            <a:r>
              <a:rPr sz="1500" spc="-5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crop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selection,</a:t>
            </a:r>
            <a:r>
              <a:rPr sz="1500" spc="-5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irrigation</a:t>
            </a:r>
            <a:r>
              <a:rPr sz="1500" spc="-6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and</a:t>
            </a:r>
            <a:r>
              <a:rPr sz="1500" spc="-3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inputs</a:t>
            </a:r>
            <a:r>
              <a:rPr sz="1500" spc="-3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season-by-season</a:t>
            </a:r>
            <a:r>
              <a:rPr sz="1500" spc="-5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using</a:t>
            </a:r>
            <a:r>
              <a:rPr sz="1500" spc="-3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evidence</a:t>
            </a:r>
            <a:r>
              <a:rPr sz="1500" spc="-4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rather</a:t>
            </a:r>
            <a:r>
              <a:rPr sz="1500" spc="-30" dirty="0">
                <a:latin typeface="Trebuchet MS"/>
                <a:cs typeface="Trebuchet MS"/>
              </a:rPr>
              <a:t> </a:t>
            </a:r>
            <a:r>
              <a:rPr sz="1500" spc="-20" dirty="0">
                <a:latin typeface="Trebuchet MS"/>
                <a:cs typeface="Trebuchet MS"/>
              </a:rPr>
              <a:t>than </a:t>
            </a:r>
            <a:r>
              <a:rPr sz="1500" spc="-10" dirty="0">
                <a:latin typeface="Trebuchet MS"/>
                <a:cs typeface="Trebuchet MS"/>
              </a:rPr>
              <a:t>guesswork.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sz="1800" b="1" spc="-10" dirty="0">
                <a:solidFill>
                  <a:srgbClr val="2D83C3"/>
                </a:solidFill>
                <a:latin typeface="Trebuchet MS"/>
                <a:cs typeface="Trebuchet MS"/>
              </a:rPr>
              <a:t>Agricultural</a:t>
            </a:r>
            <a:r>
              <a:rPr sz="1800" b="1" spc="-7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2D83C3"/>
                </a:solidFill>
                <a:latin typeface="Trebuchet MS"/>
                <a:cs typeface="Trebuchet MS"/>
              </a:rPr>
              <a:t>Policy</a:t>
            </a:r>
            <a:r>
              <a:rPr sz="1800" b="1" spc="-65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2D83C3"/>
                </a:solidFill>
                <a:latin typeface="Trebuchet MS"/>
                <a:cs typeface="Trebuchet MS"/>
              </a:rPr>
              <a:t>Makers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</a:pPr>
            <a:r>
              <a:rPr sz="1500" dirty="0">
                <a:latin typeface="Trebuchet MS"/>
                <a:cs typeface="Trebuchet MS"/>
              </a:rPr>
              <a:t>Design</a:t>
            </a:r>
            <a:r>
              <a:rPr sz="1500" spc="-4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seasonal</a:t>
            </a:r>
            <a:r>
              <a:rPr sz="1500" spc="-5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advisories,</a:t>
            </a:r>
            <a:r>
              <a:rPr sz="1500" spc="-5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subsidies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and</a:t>
            </a:r>
            <a:r>
              <a:rPr sz="1500" spc="-3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irrigation</a:t>
            </a:r>
            <a:r>
              <a:rPr sz="1500" spc="-6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programs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backed</a:t>
            </a:r>
            <a:r>
              <a:rPr sz="1500" spc="-3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by</a:t>
            </a:r>
            <a:r>
              <a:rPr sz="1500" spc="-3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real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performance data.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sz="1800" b="1" dirty="0">
                <a:solidFill>
                  <a:srgbClr val="42D0A1"/>
                </a:solidFill>
                <a:latin typeface="Trebuchet MS"/>
                <a:cs typeface="Trebuchet MS"/>
              </a:rPr>
              <a:t>Agribusiness</a:t>
            </a:r>
            <a:r>
              <a:rPr sz="1800" b="1" spc="-70" dirty="0">
                <a:solidFill>
                  <a:srgbClr val="42D0A1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42D0A1"/>
                </a:solidFill>
                <a:latin typeface="Trebuchet MS"/>
                <a:cs typeface="Trebuchet MS"/>
              </a:rPr>
              <a:t>&amp;</a:t>
            </a:r>
            <a:r>
              <a:rPr sz="1800" b="1" spc="-50" dirty="0">
                <a:solidFill>
                  <a:srgbClr val="42D0A1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42D0A1"/>
                </a:solidFill>
                <a:latin typeface="Trebuchet MS"/>
                <a:cs typeface="Trebuchet MS"/>
              </a:rPr>
              <a:t>Supply</a:t>
            </a:r>
            <a:r>
              <a:rPr sz="1800" b="1" spc="-60" dirty="0">
                <a:solidFill>
                  <a:srgbClr val="42D0A1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42D0A1"/>
                </a:solidFill>
                <a:latin typeface="Trebuchet MS"/>
                <a:cs typeface="Trebuchet MS"/>
              </a:rPr>
              <a:t>Chains</a:t>
            </a:r>
            <a:endParaRPr sz="1800">
              <a:latin typeface="Trebuchet MS"/>
              <a:cs typeface="Trebuchet MS"/>
            </a:endParaRPr>
          </a:p>
          <a:p>
            <a:pPr marL="12700" marR="326390">
              <a:lnSpc>
                <a:spcPct val="100000"/>
              </a:lnSpc>
            </a:pPr>
            <a:r>
              <a:rPr sz="1500" dirty="0">
                <a:latin typeface="Trebuchet MS"/>
                <a:cs typeface="Trebuchet MS"/>
              </a:rPr>
              <a:t>Anticipate</a:t>
            </a:r>
            <a:r>
              <a:rPr sz="1500" spc="-6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seasonal</a:t>
            </a:r>
            <a:r>
              <a:rPr sz="1500" spc="-5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shifts</a:t>
            </a:r>
            <a:r>
              <a:rPr sz="1500" spc="-3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in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production</a:t>
            </a:r>
            <a:r>
              <a:rPr sz="1500" spc="-5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volumes</a:t>
            </a:r>
            <a:r>
              <a:rPr sz="1500" spc="-3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and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pricing</a:t>
            </a:r>
            <a:r>
              <a:rPr sz="1500" spc="-5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to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plan</a:t>
            </a:r>
            <a:r>
              <a:rPr sz="1500" spc="-35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procurement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spc="-25" dirty="0">
                <a:latin typeface="Trebuchet MS"/>
                <a:cs typeface="Trebuchet MS"/>
              </a:rPr>
              <a:t>and </a:t>
            </a:r>
            <a:r>
              <a:rPr sz="1500" spc="-10" dirty="0">
                <a:latin typeface="Trebuchet MS"/>
                <a:cs typeface="Trebuchet MS"/>
              </a:rPr>
              <a:t>logistics.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25"/>
              </a:spcBef>
            </a:pPr>
            <a:r>
              <a:rPr sz="1800" b="1" dirty="0">
                <a:solidFill>
                  <a:srgbClr val="2D936B"/>
                </a:solidFill>
                <a:latin typeface="Trebuchet MS"/>
                <a:cs typeface="Trebuchet MS"/>
              </a:rPr>
              <a:t>Researchers</a:t>
            </a:r>
            <a:r>
              <a:rPr sz="1800" b="1" spc="-55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2D936B"/>
                </a:solidFill>
                <a:latin typeface="Trebuchet MS"/>
                <a:cs typeface="Trebuchet MS"/>
              </a:rPr>
              <a:t>&amp;</a:t>
            </a:r>
            <a:r>
              <a:rPr sz="1800" b="1" spc="-65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2D936B"/>
                </a:solidFill>
                <a:latin typeface="Trebuchet MS"/>
                <a:cs typeface="Trebuchet MS"/>
              </a:rPr>
              <a:t>Students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latin typeface="Trebuchet MS"/>
                <a:cs typeface="Trebuchet MS"/>
              </a:rPr>
              <a:t>Use</a:t>
            </a:r>
            <a:r>
              <a:rPr sz="1500" spc="-4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the</a:t>
            </a:r>
            <a:r>
              <a:rPr sz="1500" spc="-4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findings</a:t>
            </a:r>
            <a:r>
              <a:rPr sz="1500" spc="-3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as</a:t>
            </a:r>
            <a:r>
              <a:rPr sz="1500" spc="-2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a</a:t>
            </a:r>
            <a:r>
              <a:rPr sz="1500" spc="-4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reference</a:t>
            </a:r>
            <a:r>
              <a:rPr sz="1500" spc="-5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case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study</a:t>
            </a:r>
            <a:r>
              <a:rPr sz="1500" spc="-3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on</a:t>
            </a:r>
            <a:r>
              <a:rPr sz="1500" spc="-3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data-driven</a:t>
            </a:r>
            <a:r>
              <a:rPr sz="1500" spc="-5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seasonal</a:t>
            </a:r>
            <a:r>
              <a:rPr sz="1500" spc="-3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agricultural</a:t>
            </a:r>
            <a:r>
              <a:rPr sz="1500" spc="-60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analysis.</a:t>
            </a:r>
            <a:endParaRPr sz="150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4595" y="2900045"/>
            <a:ext cx="120002" cy="12001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4595" y="3850004"/>
            <a:ext cx="120002" cy="12001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54595" y="4799965"/>
            <a:ext cx="120002" cy="120015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pPr marL="111125">
                <a:lnSpc>
                  <a:spcPct val="100000"/>
                </a:lnSpc>
                <a:spcBef>
                  <a:spcPts val="35"/>
                </a:spcBef>
              </a:pPr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420546" y="-4762"/>
            <a:ext cx="4773295" cy="6867525"/>
            <a:chOff x="7420546" y="-4762"/>
            <a:chExt cx="4773295" cy="6867525"/>
          </a:xfrm>
        </p:grpSpPr>
        <p:sp>
          <p:nvSpPr>
            <p:cNvPr id="4" name="object 4"/>
            <p:cNvSpPr/>
            <p:nvPr/>
          </p:nvSpPr>
          <p:spPr>
            <a:xfrm>
              <a:off x="7425308" y="0"/>
              <a:ext cx="4763770" cy="6858000"/>
            </a:xfrm>
            <a:custGeom>
              <a:avLst/>
              <a:gdLst/>
              <a:ahLst/>
              <a:cxnLst/>
              <a:rect l="l" t="t" r="r" b="b"/>
              <a:pathLst>
                <a:path w="4763770" h="6858000">
                  <a:moveTo>
                    <a:pt x="1945640" y="0"/>
                  </a:moveTo>
                  <a:lnTo>
                    <a:pt x="3164840" y="6857999"/>
                  </a:lnTo>
                </a:path>
                <a:path w="4763770" h="6858000">
                  <a:moveTo>
                    <a:pt x="4763516" y="3681349"/>
                  </a:moveTo>
                  <a:lnTo>
                    <a:pt x="0" y="6857999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81464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>
                  <a:moveTo>
                    <a:pt x="3007359" y="0"/>
                  </a:moveTo>
                  <a:lnTo>
                    <a:pt x="2043054" y="0"/>
                  </a:lnTo>
                  <a:lnTo>
                    <a:pt x="0" y="6858000"/>
                  </a:lnTo>
                  <a:lnTo>
                    <a:pt x="3007359" y="6858000"/>
                  </a:lnTo>
                  <a:lnTo>
                    <a:pt x="300735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04984" y="0"/>
              <a:ext cx="2587625" cy="6858000"/>
            </a:xfrm>
            <a:custGeom>
              <a:avLst/>
              <a:gdLst/>
              <a:ahLst/>
              <a:cxnLst/>
              <a:rect l="l" t="t" r="r" b="b"/>
              <a:pathLst>
                <a:path w="2587625" h="6858000">
                  <a:moveTo>
                    <a:pt x="2587015" y="0"/>
                  </a:moveTo>
                  <a:lnTo>
                    <a:pt x="0" y="0"/>
                  </a:lnTo>
                  <a:lnTo>
                    <a:pt x="1207922" y="6858000"/>
                  </a:lnTo>
                  <a:lnTo>
                    <a:pt x="2587015" y="6858000"/>
                  </a:lnTo>
                  <a:lnTo>
                    <a:pt x="2587015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32290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>
                  <a:moveTo>
                    <a:pt x="3259708" y="0"/>
                  </a:moveTo>
                  <a:lnTo>
                    <a:pt x="0" y="3809999"/>
                  </a:lnTo>
                  <a:lnTo>
                    <a:pt x="3259708" y="3809999"/>
                  </a:lnTo>
                  <a:lnTo>
                    <a:pt x="3259708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37561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>
                  <a:moveTo>
                    <a:pt x="2851263" y="0"/>
                  </a:moveTo>
                  <a:lnTo>
                    <a:pt x="0" y="0"/>
                  </a:lnTo>
                  <a:lnTo>
                    <a:pt x="2467723" y="6858000"/>
                  </a:lnTo>
                  <a:lnTo>
                    <a:pt x="2851263" y="6858000"/>
                  </a:lnTo>
                  <a:lnTo>
                    <a:pt x="2851263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98758" y="0"/>
              <a:ext cx="1290320" cy="6858000"/>
            </a:xfrm>
            <a:custGeom>
              <a:avLst/>
              <a:gdLst/>
              <a:ahLst/>
              <a:cxnLst/>
              <a:rect l="l" t="t" r="r" b="b"/>
              <a:pathLst>
                <a:path w="1290320" h="6858000">
                  <a:moveTo>
                    <a:pt x="1290066" y="0"/>
                  </a:moveTo>
                  <a:lnTo>
                    <a:pt x="1018419" y="0"/>
                  </a:lnTo>
                  <a:lnTo>
                    <a:pt x="0" y="6858000"/>
                  </a:lnTo>
                  <a:lnTo>
                    <a:pt x="1290066" y="6858000"/>
                  </a:lnTo>
                  <a:lnTo>
                    <a:pt x="1290066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940392" y="0"/>
              <a:ext cx="1249045" cy="6858000"/>
            </a:xfrm>
            <a:custGeom>
              <a:avLst/>
              <a:gdLst/>
              <a:ahLst/>
              <a:cxnLst/>
              <a:rect l="l" t="t" r="r" b="b"/>
              <a:pathLst>
                <a:path w="1249045" h="6858000">
                  <a:moveTo>
                    <a:pt x="1248432" y="0"/>
                  </a:moveTo>
                  <a:lnTo>
                    <a:pt x="0" y="0"/>
                  </a:lnTo>
                  <a:lnTo>
                    <a:pt x="1107970" y="6858000"/>
                  </a:lnTo>
                  <a:lnTo>
                    <a:pt x="1248432" y="6858000"/>
                  </a:lnTo>
                  <a:lnTo>
                    <a:pt x="124843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71708" y="3589909"/>
              <a:ext cx="1817370" cy="3268345"/>
            </a:xfrm>
            <a:custGeom>
              <a:avLst/>
              <a:gdLst/>
              <a:ahLst/>
              <a:cxnLst/>
              <a:rect l="l" t="t" r="r" b="b"/>
              <a:pathLst>
                <a:path w="1817370" h="3268345">
                  <a:moveTo>
                    <a:pt x="1817116" y="0"/>
                  </a:moveTo>
                  <a:lnTo>
                    <a:pt x="0" y="3268090"/>
                  </a:lnTo>
                  <a:lnTo>
                    <a:pt x="1817116" y="3268090"/>
                  </a:lnTo>
                  <a:lnTo>
                    <a:pt x="1817116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0" y="4013200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0" y="0"/>
                </a:moveTo>
                <a:lnTo>
                  <a:pt x="0" y="2844799"/>
                </a:lnTo>
                <a:lnTo>
                  <a:pt x="448729" y="2844799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51941" y="6482814"/>
            <a:ext cx="175260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5"/>
              </a:lnSpc>
              <a:tabLst>
                <a:tab pos="784860" algn="l"/>
              </a:tabLst>
            </a:pPr>
            <a:r>
              <a:rPr sz="1100" spc="-10" dirty="0">
                <a:solidFill>
                  <a:srgbClr val="2D83C3"/>
                </a:solidFill>
                <a:latin typeface="Trebuchet MS"/>
                <a:cs typeface="Trebuchet MS"/>
              </a:rPr>
              <a:t>9/4/2026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	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Annual</a:t>
            </a:r>
            <a:r>
              <a:rPr sz="1100" b="1" spc="-15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2D83C3"/>
                </a:solidFill>
                <a:latin typeface="Trebuchet MS"/>
                <a:cs typeface="Trebuchet MS"/>
              </a:rPr>
              <a:t>Review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362825" y="443230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1007217" y="5605995"/>
            <a:ext cx="654685" cy="654685"/>
          </a:xfrm>
          <a:custGeom>
            <a:avLst/>
            <a:gdLst/>
            <a:ahLst/>
            <a:cxnLst/>
            <a:rect l="l" t="t" r="r" b="b"/>
            <a:pathLst>
              <a:path w="654684" h="654685">
                <a:moveTo>
                  <a:pt x="327151" y="0"/>
                </a:moveTo>
                <a:lnTo>
                  <a:pt x="278798" y="3546"/>
                </a:lnTo>
                <a:lnTo>
                  <a:pt x="232651" y="13849"/>
                </a:lnTo>
                <a:lnTo>
                  <a:pt x="189215" y="30403"/>
                </a:lnTo>
                <a:lnTo>
                  <a:pt x="148996" y="52700"/>
                </a:lnTo>
                <a:lnTo>
                  <a:pt x="112500" y="80236"/>
                </a:lnTo>
                <a:lnTo>
                  <a:pt x="80231" y="112504"/>
                </a:lnTo>
                <a:lnTo>
                  <a:pt x="52696" y="148998"/>
                </a:lnTo>
                <a:lnTo>
                  <a:pt x="30399" y="189212"/>
                </a:lnTo>
                <a:lnTo>
                  <a:pt x="13848" y="232640"/>
                </a:lnTo>
                <a:lnTo>
                  <a:pt x="3546" y="278775"/>
                </a:lnTo>
                <a:lnTo>
                  <a:pt x="0" y="327113"/>
                </a:lnTo>
                <a:lnTo>
                  <a:pt x="3546" y="375451"/>
                </a:lnTo>
                <a:lnTo>
                  <a:pt x="13848" y="421587"/>
                </a:lnTo>
                <a:lnTo>
                  <a:pt x="30399" y="465015"/>
                </a:lnTo>
                <a:lnTo>
                  <a:pt x="52696" y="505229"/>
                </a:lnTo>
                <a:lnTo>
                  <a:pt x="80231" y="541723"/>
                </a:lnTo>
                <a:lnTo>
                  <a:pt x="112500" y="573991"/>
                </a:lnTo>
                <a:lnTo>
                  <a:pt x="148996" y="601527"/>
                </a:lnTo>
                <a:lnTo>
                  <a:pt x="189215" y="623824"/>
                </a:lnTo>
                <a:lnTo>
                  <a:pt x="232651" y="640377"/>
                </a:lnTo>
                <a:lnTo>
                  <a:pt x="278798" y="650680"/>
                </a:lnTo>
                <a:lnTo>
                  <a:pt x="327151" y="654227"/>
                </a:lnTo>
                <a:lnTo>
                  <a:pt x="375476" y="650680"/>
                </a:lnTo>
                <a:lnTo>
                  <a:pt x="421606" y="640377"/>
                </a:lnTo>
                <a:lnTo>
                  <a:pt x="465033" y="623824"/>
                </a:lnTo>
                <a:lnTo>
                  <a:pt x="505251" y="601527"/>
                </a:lnTo>
                <a:lnTo>
                  <a:pt x="541752" y="573991"/>
                </a:lnTo>
                <a:lnTo>
                  <a:pt x="574029" y="541723"/>
                </a:lnTo>
                <a:lnTo>
                  <a:pt x="601575" y="505229"/>
                </a:lnTo>
                <a:lnTo>
                  <a:pt x="623883" y="465015"/>
                </a:lnTo>
                <a:lnTo>
                  <a:pt x="640445" y="421587"/>
                </a:lnTo>
                <a:lnTo>
                  <a:pt x="650754" y="375451"/>
                </a:lnTo>
                <a:lnTo>
                  <a:pt x="654303" y="327113"/>
                </a:lnTo>
                <a:lnTo>
                  <a:pt x="650754" y="278775"/>
                </a:lnTo>
                <a:lnTo>
                  <a:pt x="640445" y="232640"/>
                </a:lnTo>
                <a:lnTo>
                  <a:pt x="623883" y="189212"/>
                </a:lnTo>
                <a:lnTo>
                  <a:pt x="601575" y="148998"/>
                </a:lnTo>
                <a:lnTo>
                  <a:pt x="574029" y="112504"/>
                </a:lnTo>
                <a:lnTo>
                  <a:pt x="541752" y="80236"/>
                </a:lnTo>
                <a:lnTo>
                  <a:pt x="505251" y="52700"/>
                </a:lnTo>
                <a:lnTo>
                  <a:pt x="465033" y="30403"/>
                </a:lnTo>
                <a:lnTo>
                  <a:pt x="421606" y="13849"/>
                </a:lnTo>
                <a:lnTo>
                  <a:pt x="375476" y="3546"/>
                </a:lnTo>
                <a:lnTo>
                  <a:pt x="327151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3747" y="6132436"/>
            <a:ext cx="251205" cy="251155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50800" y="3820156"/>
            <a:ext cx="4123054" cy="3010535"/>
            <a:chOff x="50800" y="3820156"/>
            <a:chExt cx="4123054" cy="3010535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7359" y="6410464"/>
              <a:ext cx="3706241" cy="29608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800" y="3820156"/>
              <a:ext cx="1727200" cy="301002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49957" y="4200017"/>
              <a:ext cx="120015" cy="12001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49957" y="5099939"/>
              <a:ext cx="120015" cy="120015"/>
            </a:xfrm>
            <a:prstGeom prst="rect">
              <a:avLst/>
            </a:prstGeom>
          </p:spPr>
        </p:pic>
      </p:grp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1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800" spc="-509" dirty="0"/>
              <a:t>T</a:t>
            </a:r>
            <a:r>
              <a:rPr sz="4800" spc="20" dirty="0"/>
              <a:t>echnol</a:t>
            </a:r>
            <a:r>
              <a:rPr sz="4800" dirty="0"/>
              <a:t>o</a:t>
            </a:r>
            <a:r>
              <a:rPr sz="4800" spc="20" dirty="0"/>
              <a:t>gy</a:t>
            </a:r>
            <a:r>
              <a:rPr sz="4800" spc="-280" dirty="0"/>
              <a:t> </a:t>
            </a:r>
            <a:r>
              <a:rPr sz="4800" spc="-20" dirty="0"/>
              <a:t>Used</a:t>
            </a:r>
            <a:endParaRPr sz="4800"/>
          </a:p>
        </p:txBody>
      </p:sp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49957" y="1499997"/>
            <a:ext cx="120015" cy="120014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2279142" y="1447291"/>
            <a:ext cx="531368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dirty="0">
                <a:solidFill>
                  <a:srgbClr val="5FCAEE"/>
                </a:solidFill>
                <a:latin typeface="Trebuchet MS"/>
                <a:cs typeface="Trebuchet MS"/>
              </a:rPr>
              <a:t>Python</a:t>
            </a:r>
            <a:r>
              <a:rPr sz="1700" b="1" spc="-90" dirty="0">
                <a:solidFill>
                  <a:srgbClr val="5FCAEE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—</a:t>
            </a:r>
            <a:r>
              <a:rPr sz="1500" spc="-3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Core</a:t>
            </a:r>
            <a:r>
              <a:rPr sz="1500" spc="-4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programming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language</a:t>
            </a:r>
            <a:r>
              <a:rPr sz="1500" spc="-5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for</a:t>
            </a:r>
            <a:r>
              <a:rPr sz="1500" spc="-4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the</a:t>
            </a:r>
            <a:r>
              <a:rPr sz="1500" spc="-3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entire</a:t>
            </a:r>
            <a:r>
              <a:rPr sz="1500" spc="-35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analysis</a:t>
            </a:r>
            <a:endParaRPr sz="1500">
              <a:latin typeface="Trebuchet MS"/>
              <a:cs typeface="Trebuchet MS"/>
            </a:endParaRPr>
          </a:p>
        </p:txBody>
      </p:sp>
      <p:pic>
        <p:nvPicPr>
          <p:cNvPr id="25" name="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49957" y="2400045"/>
            <a:ext cx="120015" cy="120014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2279142" y="2347341"/>
            <a:ext cx="6925309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dirty="0">
                <a:solidFill>
                  <a:srgbClr val="2D83C3"/>
                </a:solidFill>
                <a:latin typeface="Trebuchet MS"/>
                <a:cs typeface="Trebuchet MS"/>
              </a:rPr>
              <a:t>Pandas</a:t>
            </a:r>
            <a:r>
              <a:rPr sz="1700" b="1" spc="-5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2D83C3"/>
                </a:solidFill>
                <a:latin typeface="Trebuchet MS"/>
                <a:cs typeface="Trebuchet MS"/>
              </a:rPr>
              <a:t>&amp;</a:t>
            </a:r>
            <a:r>
              <a:rPr sz="1700" b="1" spc="-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2D83C3"/>
                </a:solidFill>
                <a:latin typeface="Trebuchet MS"/>
                <a:cs typeface="Trebuchet MS"/>
              </a:rPr>
              <a:t>NumPy</a:t>
            </a:r>
            <a:r>
              <a:rPr sz="1700" b="1" spc="-9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—</a:t>
            </a:r>
            <a:r>
              <a:rPr sz="1500" spc="-3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Data</a:t>
            </a:r>
            <a:r>
              <a:rPr sz="1500" spc="-3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cleaning,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transformation</a:t>
            </a:r>
            <a:r>
              <a:rPr sz="1500" spc="-3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and</a:t>
            </a:r>
            <a:r>
              <a:rPr sz="1500" spc="-2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numerical</a:t>
            </a:r>
            <a:r>
              <a:rPr sz="1500" spc="-35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computation</a:t>
            </a:r>
            <a:endParaRPr sz="1500">
              <a:latin typeface="Trebuchet MS"/>
              <a:cs typeface="Trebuchet MS"/>
            </a:endParaRPr>
          </a:p>
        </p:txBody>
      </p:sp>
      <p:pic>
        <p:nvPicPr>
          <p:cNvPr id="27" name="object 2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49957" y="3299967"/>
            <a:ext cx="120015" cy="120015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2279142" y="3247770"/>
            <a:ext cx="7719059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dirty="0">
                <a:solidFill>
                  <a:srgbClr val="42D0A1"/>
                </a:solidFill>
                <a:latin typeface="Trebuchet MS"/>
                <a:cs typeface="Trebuchet MS"/>
              </a:rPr>
              <a:t>Matplotlib</a:t>
            </a:r>
            <a:r>
              <a:rPr sz="1700" b="1" spc="-65" dirty="0">
                <a:solidFill>
                  <a:srgbClr val="42D0A1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42D0A1"/>
                </a:solidFill>
                <a:latin typeface="Trebuchet MS"/>
                <a:cs typeface="Trebuchet MS"/>
              </a:rPr>
              <a:t>&amp;</a:t>
            </a:r>
            <a:r>
              <a:rPr sz="1700" b="1" spc="-35" dirty="0">
                <a:solidFill>
                  <a:srgbClr val="42D0A1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42D0A1"/>
                </a:solidFill>
                <a:latin typeface="Trebuchet MS"/>
                <a:cs typeface="Trebuchet MS"/>
              </a:rPr>
              <a:t>Seaborn</a:t>
            </a:r>
            <a:r>
              <a:rPr sz="1700" b="1" spc="-114" dirty="0">
                <a:solidFill>
                  <a:srgbClr val="42D0A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—</a:t>
            </a:r>
            <a:r>
              <a:rPr sz="1500" spc="-4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Statistical</a:t>
            </a:r>
            <a:r>
              <a:rPr sz="1500" spc="-6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charts,</a:t>
            </a:r>
            <a:r>
              <a:rPr sz="1500" spc="-3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boxplots,</a:t>
            </a:r>
            <a:r>
              <a:rPr sz="1500" spc="-6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heatmaps</a:t>
            </a:r>
            <a:r>
              <a:rPr sz="1500" spc="-2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and</a:t>
            </a:r>
            <a:r>
              <a:rPr sz="1500" spc="-4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trend</a:t>
            </a:r>
            <a:r>
              <a:rPr sz="1500" spc="-30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visualizations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pPr marL="111125">
                <a:lnSpc>
                  <a:spcPct val="100000"/>
                </a:lnSpc>
                <a:spcBef>
                  <a:spcPts val="35"/>
                </a:spcBef>
              </a:pPr>
              <a:t>5</a:t>
            </a:fld>
            <a:endParaRPr spc="-50" dirty="0"/>
          </a:p>
        </p:txBody>
      </p:sp>
      <p:sp>
        <p:nvSpPr>
          <p:cNvPr id="29" name="object 29"/>
          <p:cNvSpPr txBox="1"/>
          <p:nvPr/>
        </p:nvSpPr>
        <p:spPr>
          <a:xfrm>
            <a:off x="2279142" y="4147820"/>
            <a:ext cx="562991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2D936B"/>
                </a:solidFill>
                <a:latin typeface="Trebuchet MS"/>
                <a:cs typeface="Trebuchet MS"/>
              </a:rPr>
              <a:t>SciPy</a:t>
            </a:r>
            <a:r>
              <a:rPr sz="1700" b="1" spc="-95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—</a:t>
            </a:r>
            <a:r>
              <a:rPr sz="1500" spc="-90" dirty="0">
                <a:latin typeface="Trebuchet MS"/>
                <a:cs typeface="Trebuchet MS"/>
              </a:rPr>
              <a:t> </a:t>
            </a:r>
            <a:r>
              <a:rPr sz="1500" spc="-45" dirty="0">
                <a:latin typeface="Trebuchet MS"/>
                <a:cs typeface="Trebuchet MS"/>
              </a:rPr>
              <a:t>ANOVA</a:t>
            </a:r>
            <a:r>
              <a:rPr sz="1500" spc="-8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and</a:t>
            </a:r>
            <a:r>
              <a:rPr sz="1500" spc="-2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correlation</a:t>
            </a:r>
            <a:r>
              <a:rPr sz="1500" spc="-5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testing</a:t>
            </a:r>
            <a:r>
              <a:rPr sz="1500" spc="-2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for</a:t>
            </a:r>
            <a:r>
              <a:rPr sz="1500" spc="-2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statistical</a:t>
            </a:r>
            <a:r>
              <a:rPr sz="1500" spc="-60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significance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79142" y="5047869"/>
            <a:ext cx="6512559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42AF51"/>
                </a:solidFill>
                <a:latin typeface="Trebuchet MS"/>
                <a:cs typeface="Trebuchet MS"/>
              </a:rPr>
              <a:t>Jupyter</a:t>
            </a:r>
            <a:r>
              <a:rPr sz="1700" b="1" spc="-55" dirty="0">
                <a:solidFill>
                  <a:srgbClr val="42AF51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42AF51"/>
                </a:solidFill>
                <a:latin typeface="Trebuchet MS"/>
                <a:cs typeface="Trebuchet MS"/>
              </a:rPr>
              <a:t>Notebook</a:t>
            </a:r>
            <a:r>
              <a:rPr sz="1700" b="1" spc="-85" dirty="0">
                <a:solidFill>
                  <a:srgbClr val="42AF5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—</a:t>
            </a:r>
            <a:r>
              <a:rPr sz="1500" spc="-20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End-to-</a:t>
            </a:r>
            <a:r>
              <a:rPr sz="1500" dirty="0">
                <a:latin typeface="Trebuchet MS"/>
                <a:cs typeface="Trebuchet MS"/>
              </a:rPr>
              <a:t>end</a:t>
            </a:r>
            <a:r>
              <a:rPr sz="1500" spc="-1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documentation</a:t>
            </a:r>
            <a:r>
              <a:rPr sz="1500" spc="-2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of</a:t>
            </a:r>
            <a:r>
              <a:rPr sz="1500" spc="-2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the</a:t>
            </a:r>
            <a:r>
              <a:rPr sz="1500" spc="-2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analysis</a:t>
            </a:r>
            <a:r>
              <a:rPr sz="1500" spc="-30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workflow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941" y="6482814"/>
            <a:ext cx="175260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5"/>
              </a:lnSpc>
              <a:tabLst>
                <a:tab pos="784860" algn="l"/>
              </a:tabLst>
            </a:pPr>
            <a:r>
              <a:rPr sz="1100" spc="-10" dirty="0">
                <a:solidFill>
                  <a:srgbClr val="2D83C3"/>
                </a:solidFill>
                <a:latin typeface="Trebuchet MS"/>
                <a:cs typeface="Trebuchet MS"/>
              </a:rPr>
              <a:t>9/4/2026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	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Annual</a:t>
            </a:r>
            <a:r>
              <a:rPr sz="1100" b="1" spc="-15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2D83C3"/>
                </a:solidFill>
                <a:latin typeface="Trebuchet MS"/>
                <a:cs typeface="Trebuchet MS"/>
              </a:rPr>
              <a:t>Review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54439" y="536398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2772" y="1699933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319747" y="0"/>
                </a:moveTo>
                <a:lnTo>
                  <a:pt x="0" y="0"/>
                </a:lnTo>
                <a:lnTo>
                  <a:pt x="0" y="319747"/>
                </a:lnTo>
                <a:lnTo>
                  <a:pt x="319747" y="319747"/>
                </a:lnTo>
                <a:lnTo>
                  <a:pt x="319747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4439" y="5897740"/>
            <a:ext cx="180340" cy="180340"/>
          </a:xfrm>
          <a:custGeom>
            <a:avLst/>
            <a:gdLst/>
            <a:ahLst/>
            <a:cxnLst/>
            <a:rect l="l" t="t" r="r" b="b"/>
            <a:pathLst>
              <a:path w="180340" h="180339">
                <a:moveTo>
                  <a:pt x="179971" y="0"/>
                </a:moveTo>
                <a:lnTo>
                  <a:pt x="0" y="0"/>
                </a:lnTo>
                <a:lnTo>
                  <a:pt x="0" y="179971"/>
                </a:lnTo>
                <a:lnTo>
                  <a:pt x="179971" y="179971"/>
                </a:lnTo>
                <a:lnTo>
                  <a:pt x="179971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557" y="6471920"/>
            <a:ext cx="76200" cy="171591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/>
              <a:t>RESULTS</a:t>
            </a:r>
            <a:endParaRPr sz="4800"/>
          </a:p>
        </p:txBody>
      </p:sp>
      <p:sp>
        <p:nvSpPr>
          <p:cNvPr id="8" name="object 8"/>
          <p:cNvSpPr txBox="1"/>
          <p:nvPr/>
        </p:nvSpPr>
        <p:spPr>
          <a:xfrm>
            <a:off x="754786" y="1475308"/>
            <a:ext cx="34588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2D83C3"/>
                </a:solidFill>
                <a:latin typeface="Trebuchet MS"/>
                <a:cs typeface="Trebuchet MS"/>
              </a:rPr>
              <a:t>Yield</a:t>
            </a:r>
            <a:r>
              <a:rPr sz="2000" b="1" spc="-5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2D83C3"/>
                </a:solidFill>
                <a:latin typeface="Trebuchet MS"/>
                <a:cs typeface="Trebuchet MS"/>
              </a:rPr>
              <a:t>Performance</a:t>
            </a:r>
            <a:r>
              <a:rPr sz="2000" b="1" spc="-85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D83C3"/>
                </a:solidFill>
                <a:latin typeface="Trebuchet MS"/>
                <a:cs typeface="Trebuchet MS"/>
              </a:rPr>
              <a:t>by</a:t>
            </a:r>
            <a:r>
              <a:rPr sz="2000" b="1" spc="-6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2D83C3"/>
                </a:solidFill>
                <a:latin typeface="Trebuchet MS"/>
                <a:cs typeface="Trebuchet MS"/>
              </a:rPr>
              <a:t>Season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9998" y="1950085"/>
            <a:ext cx="8700008" cy="305536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07491" y="5163439"/>
            <a:ext cx="8083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9440" marR="5080" indent="-587375">
              <a:lnSpc>
                <a:spcPct val="100000"/>
              </a:lnSpc>
              <a:spcBef>
                <a:spcPts val="100"/>
              </a:spcBef>
            </a:pP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Kharif</a:t>
            </a:r>
            <a:r>
              <a:rPr sz="1400" i="1" spc="-4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records</a:t>
            </a:r>
            <a:r>
              <a:rPr sz="1400" i="1" spc="-4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the</a:t>
            </a:r>
            <a:r>
              <a:rPr sz="1400" i="1" spc="-2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highest</a:t>
            </a:r>
            <a:r>
              <a:rPr sz="1400" i="1" spc="-6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average</a:t>
            </a:r>
            <a:r>
              <a:rPr sz="1400" i="1" spc="-2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yield</a:t>
            </a:r>
            <a:r>
              <a:rPr sz="1400" i="1" spc="-4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(5.64</a:t>
            </a:r>
            <a:r>
              <a:rPr sz="1400" i="1" spc="-2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t/ha),</a:t>
            </a:r>
            <a:r>
              <a:rPr sz="1400" i="1" spc="-1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aided</a:t>
            </a:r>
            <a:r>
              <a:rPr sz="1400" i="1" spc="-3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by</a:t>
            </a:r>
            <a:r>
              <a:rPr sz="1400" i="1" spc="-3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monsoon</a:t>
            </a:r>
            <a:r>
              <a:rPr sz="1400" i="1" spc="-4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rainfall;</a:t>
            </a:r>
            <a:r>
              <a:rPr sz="1400" i="1" spc="-2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Zaid</a:t>
            </a:r>
            <a:r>
              <a:rPr sz="1400" i="1" spc="-1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is</a:t>
            </a:r>
            <a:r>
              <a:rPr sz="1400" i="1" spc="-3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lowest</a:t>
            </a:r>
            <a:r>
              <a:rPr sz="1400" i="1" spc="-4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spc="-10" dirty="0">
                <a:solidFill>
                  <a:srgbClr val="585858"/>
                </a:solidFill>
                <a:latin typeface="Trebuchet MS"/>
                <a:cs typeface="Trebuchet MS"/>
              </a:rPr>
              <a:t>(4.67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t/ha).</a:t>
            </a:r>
            <a:r>
              <a:rPr sz="1400" i="1" spc="-7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A</a:t>
            </a:r>
            <a:r>
              <a:rPr sz="1400" i="1" spc="-6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spc="-10" dirty="0">
                <a:solidFill>
                  <a:srgbClr val="585858"/>
                </a:solidFill>
                <a:latin typeface="Trebuchet MS"/>
                <a:cs typeface="Trebuchet MS"/>
              </a:rPr>
              <a:t>one-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way</a:t>
            </a:r>
            <a:r>
              <a:rPr sz="1400" i="1" spc="-9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spc="-40" dirty="0">
                <a:solidFill>
                  <a:srgbClr val="585858"/>
                </a:solidFill>
                <a:latin typeface="Trebuchet MS"/>
                <a:cs typeface="Trebuchet MS"/>
              </a:rPr>
              <a:t>ANOVA</a:t>
            </a:r>
            <a:r>
              <a:rPr sz="1400" i="1" spc="-8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confirms</a:t>
            </a:r>
            <a:r>
              <a:rPr sz="1400" i="1" spc="-4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this</a:t>
            </a:r>
            <a:r>
              <a:rPr sz="1400" i="1" spc="-2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difference</a:t>
            </a:r>
            <a:r>
              <a:rPr sz="1400" i="1" spc="-4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is</a:t>
            </a:r>
            <a:r>
              <a:rPr sz="1400" i="1" spc="-1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statistically</a:t>
            </a:r>
            <a:r>
              <a:rPr sz="1400" i="1" spc="-1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significant</a:t>
            </a:r>
            <a:r>
              <a:rPr sz="1400" i="1" spc="-6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(p</a:t>
            </a:r>
            <a:r>
              <a:rPr sz="1400" i="1" spc="-1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&lt;</a:t>
            </a:r>
            <a:r>
              <a:rPr sz="1400" i="1" spc="-10" dirty="0">
                <a:solidFill>
                  <a:srgbClr val="585858"/>
                </a:solidFill>
                <a:latin typeface="Trebuchet MS"/>
                <a:cs typeface="Trebuchet MS"/>
              </a:rPr>
              <a:t> 0.05).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pPr marL="111125">
                <a:lnSpc>
                  <a:spcPct val="100000"/>
                </a:lnSpc>
                <a:spcBef>
                  <a:spcPts val="35"/>
                </a:spcBef>
              </a:pPr>
              <a:t>6</a:t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941" y="6482814"/>
            <a:ext cx="175260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5"/>
              </a:lnSpc>
              <a:tabLst>
                <a:tab pos="784860" algn="l"/>
              </a:tabLst>
            </a:pPr>
            <a:r>
              <a:rPr sz="1100" spc="-10" dirty="0">
                <a:solidFill>
                  <a:srgbClr val="2D83C3"/>
                </a:solidFill>
                <a:latin typeface="Trebuchet MS"/>
                <a:cs typeface="Trebuchet MS"/>
              </a:rPr>
              <a:t>9/4/2026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	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Annual</a:t>
            </a:r>
            <a:r>
              <a:rPr sz="1100" b="1" spc="-15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2D83C3"/>
                </a:solidFill>
                <a:latin typeface="Trebuchet MS"/>
                <a:cs typeface="Trebuchet MS"/>
              </a:rPr>
              <a:t>Review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54439" y="536398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2772" y="1699933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319747" y="0"/>
                </a:moveTo>
                <a:lnTo>
                  <a:pt x="0" y="0"/>
                </a:lnTo>
                <a:lnTo>
                  <a:pt x="0" y="319747"/>
                </a:lnTo>
                <a:lnTo>
                  <a:pt x="319747" y="319747"/>
                </a:lnTo>
                <a:lnTo>
                  <a:pt x="319747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4439" y="5897740"/>
            <a:ext cx="180340" cy="180340"/>
          </a:xfrm>
          <a:custGeom>
            <a:avLst/>
            <a:gdLst/>
            <a:ahLst/>
            <a:cxnLst/>
            <a:rect l="l" t="t" r="r" b="b"/>
            <a:pathLst>
              <a:path w="180340" h="180339">
                <a:moveTo>
                  <a:pt x="179971" y="0"/>
                </a:moveTo>
                <a:lnTo>
                  <a:pt x="0" y="0"/>
                </a:lnTo>
                <a:lnTo>
                  <a:pt x="0" y="179971"/>
                </a:lnTo>
                <a:lnTo>
                  <a:pt x="179971" y="179971"/>
                </a:lnTo>
                <a:lnTo>
                  <a:pt x="179971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557" y="6471920"/>
            <a:ext cx="76200" cy="171591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/>
              <a:t>RESULTS</a:t>
            </a:r>
            <a:endParaRPr sz="4800"/>
          </a:p>
        </p:txBody>
      </p:sp>
      <p:sp>
        <p:nvSpPr>
          <p:cNvPr id="8" name="object 8"/>
          <p:cNvSpPr txBox="1"/>
          <p:nvPr/>
        </p:nvSpPr>
        <p:spPr>
          <a:xfrm>
            <a:off x="754786" y="1475308"/>
            <a:ext cx="400621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2D83C3"/>
                </a:solidFill>
                <a:latin typeface="Trebuchet MS"/>
                <a:cs typeface="Trebuchet MS"/>
              </a:rPr>
              <a:t>Economic</a:t>
            </a:r>
            <a:r>
              <a:rPr sz="2000" b="1" spc="-5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2D83C3"/>
                </a:solidFill>
                <a:latin typeface="Trebuchet MS"/>
                <a:cs typeface="Trebuchet MS"/>
              </a:rPr>
              <a:t>Performance</a:t>
            </a:r>
            <a:r>
              <a:rPr sz="2000" b="1" spc="-7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D83C3"/>
                </a:solidFill>
                <a:latin typeface="Trebuchet MS"/>
                <a:cs typeface="Trebuchet MS"/>
              </a:rPr>
              <a:t>by</a:t>
            </a:r>
            <a:r>
              <a:rPr sz="2000" b="1" spc="-35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2D83C3"/>
                </a:solidFill>
                <a:latin typeface="Trebuchet MS"/>
                <a:cs typeface="Trebuchet MS"/>
              </a:rPr>
              <a:t>Season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9998" y="1950085"/>
            <a:ext cx="8700008" cy="305536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96239" y="5163439"/>
            <a:ext cx="83051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4170" marR="5080" indent="-1602105">
              <a:lnSpc>
                <a:spcPct val="100000"/>
              </a:lnSpc>
              <a:spcBef>
                <a:spcPts val="100"/>
              </a:spcBef>
            </a:pP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Kharif</a:t>
            </a:r>
            <a:r>
              <a:rPr sz="1400" i="1" spc="-3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is</a:t>
            </a:r>
            <a:r>
              <a:rPr sz="1400" i="1" spc="-2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the</a:t>
            </a:r>
            <a:r>
              <a:rPr sz="1400" i="1" spc="-2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most</a:t>
            </a:r>
            <a:r>
              <a:rPr sz="1400" i="1" spc="-4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profitable</a:t>
            </a:r>
            <a:r>
              <a:rPr sz="1400" i="1" spc="-3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season</a:t>
            </a:r>
            <a:r>
              <a:rPr sz="1400" i="1" spc="-3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on</a:t>
            </a:r>
            <a:r>
              <a:rPr sz="1400" i="1" spc="-2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average</a:t>
            </a:r>
            <a:r>
              <a:rPr sz="1400" i="1" spc="-2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(₹1,78,915;</a:t>
            </a:r>
            <a:r>
              <a:rPr sz="1400" i="1" spc="1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57.8%</a:t>
            </a:r>
            <a:r>
              <a:rPr sz="1400" i="1" spc="-2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of</a:t>
            </a:r>
            <a:r>
              <a:rPr sz="1400" i="1" spc="-1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farms</a:t>
            </a:r>
            <a:r>
              <a:rPr sz="1400" i="1" spc="-3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profitable).</a:t>
            </a:r>
            <a:r>
              <a:rPr sz="1400" i="1" spc="-3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Zaid</a:t>
            </a:r>
            <a:r>
              <a:rPr sz="1400" i="1" spc="-1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runs</a:t>
            </a:r>
            <a:r>
              <a:rPr sz="1400" i="1" spc="-4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a</a:t>
            </a:r>
            <a:r>
              <a:rPr sz="1400" i="1" spc="-1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spc="-25" dirty="0">
                <a:solidFill>
                  <a:srgbClr val="585858"/>
                </a:solidFill>
                <a:latin typeface="Trebuchet MS"/>
                <a:cs typeface="Trebuchet MS"/>
              </a:rPr>
              <a:t>net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loss</a:t>
            </a:r>
            <a:r>
              <a:rPr sz="1400" i="1" spc="-3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on</a:t>
            </a:r>
            <a:r>
              <a:rPr sz="1400" i="1" spc="-2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average</a:t>
            </a:r>
            <a:r>
              <a:rPr sz="1400" i="1" spc="-2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(-₹24,805) with</a:t>
            </a:r>
            <a:r>
              <a:rPr sz="1400" i="1" spc="-5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only</a:t>
            </a:r>
            <a:r>
              <a:rPr sz="1400" i="1" spc="-2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35.5%</a:t>
            </a:r>
            <a:r>
              <a:rPr sz="1400" i="1" spc="-1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of</a:t>
            </a:r>
            <a:r>
              <a:rPr sz="1400" i="1" spc="-2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farms</a:t>
            </a:r>
            <a:r>
              <a:rPr sz="1400" i="1" spc="-3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spc="-10" dirty="0">
                <a:solidFill>
                  <a:srgbClr val="585858"/>
                </a:solidFill>
                <a:latin typeface="Trebuchet MS"/>
                <a:cs typeface="Trebuchet MS"/>
              </a:rPr>
              <a:t>profitable.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pPr marL="111125">
                <a:lnSpc>
                  <a:spcPct val="100000"/>
                </a:lnSpc>
                <a:spcBef>
                  <a:spcPts val="35"/>
                </a:spcBef>
              </a:pPr>
              <a:t>7</a:t>
            </a:fld>
            <a:endParaRPr spc="-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/>
              <a:t>RESULTS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754786" y="1475308"/>
            <a:ext cx="43408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2D83C3"/>
                </a:solidFill>
                <a:latin typeface="Trebuchet MS"/>
                <a:cs typeface="Trebuchet MS"/>
              </a:rPr>
              <a:t>Environmental</a:t>
            </a:r>
            <a:r>
              <a:rPr sz="2000" b="1" spc="-5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D83C3"/>
                </a:solidFill>
                <a:latin typeface="Trebuchet MS"/>
                <a:cs typeface="Trebuchet MS"/>
              </a:rPr>
              <a:t>Conditions</a:t>
            </a:r>
            <a:r>
              <a:rPr sz="2000" b="1" spc="-45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D83C3"/>
                </a:solidFill>
                <a:latin typeface="Trebuchet MS"/>
                <a:cs typeface="Trebuchet MS"/>
              </a:rPr>
              <a:t>by</a:t>
            </a:r>
            <a:r>
              <a:rPr sz="2000" b="1" spc="-5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2D83C3"/>
                </a:solidFill>
                <a:latin typeface="Trebuchet MS"/>
                <a:cs typeface="Trebuchet MS"/>
              </a:rPr>
              <a:t>Season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8044" y="1950008"/>
            <a:ext cx="7163943" cy="399999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89559" y="6108293"/>
            <a:ext cx="85191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Kharif</a:t>
            </a:r>
            <a:r>
              <a:rPr sz="1400" i="1" spc="-3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brings</a:t>
            </a:r>
            <a:r>
              <a:rPr sz="1400" i="1" spc="-5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high</a:t>
            </a:r>
            <a:r>
              <a:rPr sz="1400" i="1" spc="-3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rainfall</a:t>
            </a:r>
            <a:r>
              <a:rPr sz="1400" i="1" spc="-2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and</a:t>
            </a:r>
            <a:r>
              <a:rPr sz="1400" i="1" spc="-1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humidity</a:t>
            </a:r>
            <a:r>
              <a:rPr sz="1400" i="1" spc="-5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from</a:t>
            </a:r>
            <a:r>
              <a:rPr sz="1400" i="1" spc="-2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the</a:t>
            </a:r>
            <a:r>
              <a:rPr sz="1400" i="1" spc="-3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monsoon;</a:t>
            </a:r>
            <a:r>
              <a:rPr sz="1400" i="1" spc="-4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Zaid</a:t>
            </a:r>
            <a:r>
              <a:rPr sz="1400" i="1" spc="-2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is</a:t>
            </a:r>
            <a:r>
              <a:rPr sz="1400" i="1" spc="-3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hottest</a:t>
            </a:r>
            <a:r>
              <a:rPr sz="1400" i="1" spc="-4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with</a:t>
            </a:r>
            <a:r>
              <a:rPr sz="1400" i="1" spc="-4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the</a:t>
            </a:r>
            <a:r>
              <a:rPr sz="1400" i="1" spc="-2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least</a:t>
            </a:r>
            <a:r>
              <a:rPr sz="1400" i="1" spc="-1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rainfall</a:t>
            </a:r>
            <a:r>
              <a:rPr sz="1400" i="1" spc="-2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and</a:t>
            </a:r>
            <a:r>
              <a:rPr sz="1400" i="1" spc="-20" dirty="0">
                <a:solidFill>
                  <a:srgbClr val="585858"/>
                </a:solidFill>
                <a:latin typeface="Trebuchet MS"/>
                <a:cs typeface="Trebuchet MS"/>
              </a:rPr>
              <a:t> soil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1941" y="6482814"/>
            <a:ext cx="175260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5"/>
              </a:lnSpc>
              <a:tabLst>
                <a:tab pos="784860" algn="l"/>
              </a:tabLst>
            </a:pPr>
            <a:r>
              <a:rPr sz="1100" spc="-10" dirty="0">
                <a:solidFill>
                  <a:srgbClr val="2D83C3"/>
                </a:solidFill>
                <a:latin typeface="Trebuchet MS"/>
                <a:cs typeface="Trebuchet MS"/>
              </a:rPr>
              <a:t>9/4/2026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	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Annual</a:t>
            </a:r>
            <a:r>
              <a:rPr sz="1100" b="1" spc="-15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2D83C3"/>
                </a:solidFill>
                <a:latin typeface="Trebuchet MS"/>
                <a:cs typeface="Trebuchet MS"/>
              </a:rPr>
              <a:t>Review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26055" y="6332536"/>
            <a:ext cx="5448935" cy="23304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moisture</a:t>
            </a:r>
            <a:r>
              <a:rPr sz="1400" i="1" spc="-4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—</a:t>
            </a:r>
            <a:r>
              <a:rPr sz="1400" i="1" spc="-2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the</a:t>
            </a:r>
            <a:r>
              <a:rPr sz="1400" i="1" spc="-3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primary</a:t>
            </a:r>
            <a:r>
              <a:rPr sz="1400" i="1" spc="-2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driver</a:t>
            </a:r>
            <a:r>
              <a:rPr sz="1400" i="1" spc="-2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of</a:t>
            </a:r>
            <a:r>
              <a:rPr sz="1400" i="1" spc="-1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the</a:t>
            </a:r>
            <a:r>
              <a:rPr sz="1400" i="1" spc="-1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seasonal</a:t>
            </a:r>
            <a:r>
              <a:rPr sz="1400" i="1" spc="-2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yield</a:t>
            </a:r>
            <a:r>
              <a:rPr sz="1400" i="1" spc="-3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and</a:t>
            </a:r>
            <a:r>
              <a:rPr sz="1400" i="1" spc="-1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profit</a:t>
            </a:r>
            <a:r>
              <a:rPr sz="1400" i="1" spc="-4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spc="-20" dirty="0">
                <a:solidFill>
                  <a:srgbClr val="585858"/>
                </a:solidFill>
                <a:latin typeface="Trebuchet MS"/>
                <a:cs typeface="Trebuchet MS"/>
              </a:rPr>
              <a:t>gap.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pPr marL="111125">
                <a:lnSpc>
                  <a:spcPct val="100000"/>
                </a:lnSpc>
                <a:spcBef>
                  <a:spcPts val="35"/>
                </a:spcBef>
              </a:pPr>
              <a:t>8</a:t>
            </a:fld>
            <a:endParaRPr spc="-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/>
              <a:t>RESULTS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754786" y="1475308"/>
            <a:ext cx="437832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2D83C3"/>
                </a:solidFill>
                <a:latin typeface="Trebuchet MS"/>
                <a:cs typeface="Trebuchet MS"/>
              </a:rPr>
              <a:t>Relationships</a:t>
            </a:r>
            <a:r>
              <a:rPr sz="2000" b="1" spc="-7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D83C3"/>
                </a:solidFill>
                <a:latin typeface="Trebuchet MS"/>
                <a:cs typeface="Trebuchet MS"/>
              </a:rPr>
              <a:t>Between</a:t>
            </a:r>
            <a:r>
              <a:rPr sz="2000" b="1" spc="-45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D83C3"/>
                </a:solidFill>
                <a:latin typeface="Trebuchet MS"/>
                <a:cs typeface="Trebuchet MS"/>
              </a:rPr>
              <a:t>Key</a:t>
            </a:r>
            <a:r>
              <a:rPr sz="2000" b="1" spc="-45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2D83C3"/>
                </a:solidFill>
                <a:latin typeface="Trebuchet MS"/>
                <a:cs typeface="Trebuchet MS"/>
              </a:rPr>
              <a:t>Variables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9995" y="1950008"/>
            <a:ext cx="4900040" cy="399999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11479" y="6108293"/>
            <a:ext cx="82759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Yield</a:t>
            </a:r>
            <a:r>
              <a:rPr sz="1400" i="1" spc="-4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correlates</a:t>
            </a:r>
            <a:r>
              <a:rPr sz="1400" i="1" spc="-2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most</a:t>
            </a:r>
            <a:r>
              <a:rPr sz="1400" i="1" spc="-2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strongly</a:t>
            </a:r>
            <a:r>
              <a:rPr sz="1400" i="1" spc="-4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with</a:t>
            </a:r>
            <a:r>
              <a:rPr sz="1400" i="1" spc="-4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water</a:t>
            </a:r>
            <a:r>
              <a:rPr sz="1400" i="1" spc="-2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usage</a:t>
            </a:r>
            <a:r>
              <a:rPr sz="1400" i="1" spc="-3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(r</a:t>
            </a:r>
            <a:r>
              <a:rPr sz="1400" i="1" spc="-2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=</a:t>
            </a:r>
            <a:r>
              <a:rPr sz="1400" i="1" spc="-1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0.39);</a:t>
            </a:r>
            <a:r>
              <a:rPr sz="1400" i="1" spc="-1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disease/pest</a:t>
            </a:r>
            <a:r>
              <a:rPr sz="1400" i="1" spc="-5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risk</a:t>
            </a:r>
            <a:r>
              <a:rPr sz="1400" i="1" spc="-4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rises</a:t>
            </a:r>
            <a:r>
              <a:rPr sz="1400" i="1" spc="-4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sharply</a:t>
            </a:r>
            <a:r>
              <a:rPr sz="1400" i="1" spc="-2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with</a:t>
            </a:r>
            <a:r>
              <a:rPr sz="1400" i="1" spc="-5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spc="-10" dirty="0">
                <a:solidFill>
                  <a:srgbClr val="585858"/>
                </a:solidFill>
                <a:latin typeface="Trebuchet MS"/>
                <a:cs typeface="Trebuchet MS"/>
              </a:rPr>
              <a:t>rainfall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1941" y="6482814"/>
            <a:ext cx="175260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5"/>
              </a:lnSpc>
              <a:tabLst>
                <a:tab pos="784860" algn="l"/>
              </a:tabLst>
            </a:pPr>
            <a:r>
              <a:rPr sz="1100" spc="-10" dirty="0">
                <a:solidFill>
                  <a:srgbClr val="2D83C3"/>
                </a:solidFill>
                <a:latin typeface="Trebuchet MS"/>
                <a:cs typeface="Trebuchet MS"/>
              </a:rPr>
              <a:t>9/4/2026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	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Annual</a:t>
            </a:r>
            <a:r>
              <a:rPr sz="1100" b="1" spc="-15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2D83C3"/>
                </a:solidFill>
                <a:latin typeface="Trebuchet MS"/>
                <a:cs typeface="Trebuchet MS"/>
              </a:rPr>
              <a:t>Review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99207" y="6332536"/>
            <a:ext cx="5301615" cy="23304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and</a:t>
            </a:r>
            <a:r>
              <a:rPr sz="1400" i="1" spc="-1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humidity</a:t>
            </a:r>
            <a:r>
              <a:rPr sz="1400" i="1" spc="-5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(r</a:t>
            </a:r>
            <a:r>
              <a:rPr sz="1400" i="1" spc="-1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≈</a:t>
            </a:r>
            <a:r>
              <a:rPr sz="1400" i="1" spc="-1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0.6),</a:t>
            </a:r>
            <a:r>
              <a:rPr sz="1400" i="1" spc="-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linking</a:t>
            </a:r>
            <a:r>
              <a:rPr sz="1400" i="1" spc="-4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wetter</a:t>
            </a:r>
            <a:r>
              <a:rPr sz="1400" i="1" spc="-2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seasons</a:t>
            </a:r>
            <a:r>
              <a:rPr sz="1400" i="1" spc="-3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to</a:t>
            </a:r>
            <a:r>
              <a:rPr sz="1400" i="1" spc="-1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higher</a:t>
            </a:r>
            <a:r>
              <a:rPr sz="1400" i="1" spc="-3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crop</a:t>
            </a:r>
            <a:r>
              <a:rPr sz="1400" i="1" spc="-3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spc="-10" dirty="0">
                <a:solidFill>
                  <a:srgbClr val="585858"/>
                </a:solidFill>
                <a:latin typeface="Trebuchet MS"/>
                <a:cs typeface="Trebuchet MS"/>
              </a:rPr>
              <a:t>risk.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pPr marL="111125">
                <a:lnSpc>
                  <a:spcPct val="100000"/>
                </a:lnSpc>
                <a:spcBef>
                  <a:spcPts val="35"/>
                </a:spcBef>
              </a:pPr>
              <a:t>9</a:t>
            </a:fld>
            <a:endParaRPr spc="-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941" y="6482814"/>
            <a:ext cx="175260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5"/>
              </a:lnSpc>
              <a:tabLst>
                <a:tab pos="784860" algn="l"/>
              </a:tabLst>
            </a:pPr>
            <a:r>
              <a:rPr sz="1100" spc="-10" dirty="0">
                <a:solidFill>
                  <a:srgbClr val="2D83C3"/>
                </a:solidFill>
                <a:latin typeface="Trebuchet MS"/>
                <a:cs typeface="Trebuchet MS"/>
              </a:rPr>
              <a:t>9/4/2026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	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Annual</a:t>
            </a:r>
            <a:r>
              <a:rPr sz="1100" b="1" spc="-15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2D83C3"/>
                </a:solidFill>
                <a:latin typeface="Trebuchet MS"/>
                <a:cs typeface="Trebuchet MS"/>
              </a:rPr>
              <a:t>Review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298173" y="6461556"/>
            <a:ext cx="17208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2D936B"/>
                </a:solidFill>
                <a:latin typeface="Trebuchet MS"/>
                <a:cs typeface="Trebuchet MS"/>
              </a:rPr>
              <a:t>10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354439" y="536398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4439" y="5897740"/>
            <a:ext cx="180340" cy="180340"/>
          </a:xfrm>
          <a:custGeom>
            <a:avLst/>
            <a:gdLst/>
            <a:ahLst/>
            <a:cxnLst/>
            <a:rect l="l" t="t" r="r" b="b"/>
            <a:pathLst>
              <a:path w="180340" h="180339">
                <a:moveTo>
                  <a:pt x="179971" y="0"/>
                </a:moveTo>
                <a:lnTo>
                  <a:pt x="0" y="0"/>
                </a:lnTo>
                <a:lnTo>
                  <a:pt x="0" y="179971"/>
                </a:lnTo>
                <a:lnTo>
                  <a:pt x="179971" y="179971"/>
                </a:lnTo>
                <a:lnTo>
                  <a:pt x="179971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557" y="6471920"/>
            <a:ext cx="76200" cy="171591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2131948" y="1699933"/>
            <a:ext cx="5636260" cy="4250690"/>
            <a:chOff x="2131948" y="1699933"/>
            <a:chExt cx="5636260" cy="4250690"/>
          </a:xfrm>
        </p:grpSpPr>
        <p:sp>
          <p:nvSpPr>
            <p:cNvPr id="8" name="object 8"/>
            <p:cNvSpPr/>
            <p:nvPr/>
          </p:nvSpPr>
          <p:spPr>
            <a:xfrm>
              <a:off x="6692772" y="1699933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39">
                  <a:moveTo>
                    <a:pt x="319747" y="0"/>
                  </a:moveTo>
                  <a:lnTo>
                    <a:pt x="0" y="0"/>
                  </a:lnTo>
                  <a:lnTo>
                    <a:pt x="0" y="319747"/>
                  </a:lnTo>
                  <a:lnTo>
                    <a:pt x="319747" y="319747"/>
                  </a:lnTo>
                  <a:lnTo>
                    <a:pt x="319747" y="0"/>
                  </a:lnTo>
                  <a:close/>
                </a:path>
              </a:pathLst>
            </a:custGeom>
            <a:solidFill>
              <a:srgbClr val="2D8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31948" y="1950008"/>
              <a:ext cx="5636006" cy="3999991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/>
              <a:t>RESULTS</a:t>
            </a:r>
            <a:endParaRPr sz="4800"/>
          </a:p>
        </p:txBody>
      </p:sp>
      <p:sp>
        <p:nvSpPr>
          <p:cNvPr id="11" name="object 11"/>
          <p:cNvSpPr txBox="1"/>
          <p:nvPr/>
        </p:nvSpPr>
        <p:spPr>
          <a:xfrm>
            <a:off x="754786" y="1475308"/>
            <a:ext cx="40005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2D83C3"/>
                </a:solidFill>
                <a:latin typeface="Trebuchet MS"/>
                <a:cs typeface="Trebuchet MS"/>
              </a:rPr>
              <a:t>Crop</a:t>
            </a:r>
            <a:r>
              <a:rPr sz="2000" b="1" spc="1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2000" b="1" spc="-20" dirty="0">
                <a:solidFill>
                  <a:srgbClr val="2D83C3"/>
                </a:solidFill>
                <a:latin typeface="Trebuchet MS"/>
                <a:cs typeface="Trebuchet MS"/>
              </a:rPr>
              <a:t>Performance</a:t>
            </a:r>
            <a:r>
              <a:rPr sz="2000" b="1" spc="-145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D83C3"/>
                </a:solidFill>
                <a:latin typeface="Trebuchet MS"/>
                <a:cs typeface="Trebuchet MS"/>
              </a:rPr>
              <a:t>Across </a:t>
            </a:r>
            <a:r>
              <a:rPr sz="2000" b="1" spc="-10" dirty="0">
                <a:solidFill>
                  <a:srgbClr val="2D83C3"/>
                </a:solidFill>
                <a:latin typeface="Trebuchet MS"/>
                <a:cs typeface="Trebuchet MS"/>
              </a:rPr>
              <a:t>Seasons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3775" y="6108293"/>
            <a:ext cx="81146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3465" marR="5080" indent="-1041400">
              <a:lnSpc>
                <a:spcPct val="100000"/>
              </a:lnSpc>
              <a:spcBef>
                <a:spcPts val="100"/>
              </a:spcBef>
            </a:pP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Sugarcane</a:t>
            </a:r>
            <a:r>
              <a:rPr sz="1400" i="1" spc="-2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shows</a:t>
            </a:r>
            <a:r>
              <a:rPr sz="1400" i="1" spc="-4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the</a:t>
            </a:r>
            <a:r>
              <a:rPr sz="1400" i="1" spc="-2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largest</a:t>
            </a:r>
            <a:r>
              <a:rPr sz="1400" i="1" spc="-2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seasonal</a:t>
            </a:r>
            <a:r>
              <a:rPr sz="1400" i="1" spc="-2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swing</a:t>
            </a:r>
            <a:r>
              <a:rPr sz="1400" i="1" spc="-4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in</a:t>
            </a:r>
            <a:r>
              <a:rPr sz="1400" i="1" spc="-3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yield,</a:t>
            </a:r>
            <a:r>
              <a:rPr sz="1400" i="1" spc="-3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while</a:t>
            </a:r>
            <a:r>
              <a:rPr sz="1400" i="1" spc="-3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most</a:t>
            </a:r>
            <a:r>
              <a:rPr sz="1400" i="1" spc="-3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states</a:t>
            </a:r>
            <a:r>
              <a:rPr sz="1400" i="1" spc="-2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also</a:t>
            </a:r>
            <a:r>
              <a:rPr sz="1400" i="1" spc="-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perform</a:t>
            </a:r>
            <a:r>
              <a:rPr sz="1400" i="1" spc="-3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best</a:t>
            </a:r>
            <a:r>
              <a:rPr sz="1400" i="1" spc="-3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in</a:t>
            </a:r>
            <a:r>
              <a:rPr sz="1400" i="1" spc="-3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Kharif</a:t>
            </a:r>
            <a:r>
              <a:rPr sz="1400" i="1" spc="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spc="-50" dirty="0">
                <a:solidFill>
                  <a:srgbClr val="585858"/>
                </a:solidFill>
                <a:latin typeface="Trebuchet MS"/>
                <a:cs typeface="Trebuchet MS"/>
              </a:rPr>
              <a:t>—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confirming</a:t>
            </a:r>
            <a:r>
              <a:rPr sz="1400" i="1" spc="-5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the</a:t>
            </a:r>
            <a:r>
              <a:rPr sz="1400" i="1" spc="-4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seasonal</a:t>
            </a:r>
            <a:r>
              <a:rPr sz="1400" i="1" spc="-2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effect</a:t>
            </a:r>
            <a:r>
              <a:rPr sz="1400" i="1" spc="-3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holds</a:t>
            </a:r>
            <a:r>
              <a:rPr sz="1400" i="1" spc="-4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consistently</a:t>
            </a:r>
            <a:r>
              <a:rPr sz="1400" i="1" spc="-4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across</a:t>
            </a:r>
            <a:r>
              <a:rPr sz="1400" i="1" spc="-3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crops</a:t>
            </a:r>
            <a:r>
              <a:rPr sz="1400" i="1" spc="-3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585858"/>
                </a:solidFill>
                <a:latin typeface="Trebuchet MS"/>
                <a:cs typeface="Trebuchet MS"/>
              </a:rPr>
              <a:t>and</a:t>
            </a:r>
            <a:r>
              <a:rPr sz="1400" i="1" spc="-2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400" i="1" spc="-10" dirty="0">
                <a:solidFill>
                  <a:srgbClr val="585858"/>
                </a:solidFill>
                <a:latin typeface="Trebuchet MS"/>
                <a:cs typeface="Trebuchet MS"/>
              </a:rPr>
              <a:t>regions.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941" y="6482814"/>
            <a:ext cx="175260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5"/>
              </a:lnSpc>
              <a:tabLst>
                <a:tab pos="784860" algn="l"/>
              </a:tabLst>
            </a:pPr>
            <a:r>
              <a:rPr sz="1100" spc="-10" dirty="0">
                <a:solidFill>
                  <a:srgbClr val="2D83C3"/>
                </a:solidFill>
                <a:latin typeface="Trebuchet MS"/>
                <a:cs typeface="Trebuchet MS"/>
              </a:rPr>
              <a:t>9/4/2026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	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Annual</a:t>
            </a:r>
            <a:r>
              <a:rPr sz="1100" b="1" spc="-15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2D83C3"/>
                </a:solidFill>
                <a:latin typeface="Trebuchet MS"/>
                <a:cs typeface="Trebuchet MS"/>
              </a:rPr>
              <a:t>Review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54439" y="536398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2772" y="1699933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319747" y="0"/>
                </a:moveTo>
                <a:lnTo>
                  <a:pt x="0" y="0"/>
                </a:lnTo>
                <a:lnTo>
                  <a:pt x="0" y="319747"/>
                </a:lnTo>
                <a:lnTo>
                  <a:pt x="319747" y="319747"/>
                </a:lnTo>
                <a:lnTo>
                  <a:pt x="319747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4439" y="5897740"/>
            <a:ext cx="180340" cy="180340"/>
          </a:xfrm>
          <a:custGeom>
            <a:avLst/>
            <a:gdLst/>
            <a:ahLst/>
            <a:cxnLst/>
            <a:rect l="l" t="t" r="r" b="b"/>
            <a:pathLst>
              <a:path w="180340" h="180339">
                <a:moveTo>
                  <a:pt x="179971" y="0"/>
                </a:moveTo>
                <a:lnTo>
                  <a:pt x="0" y="0"/>
                </a:lnTo>
                <a:lnTo>
                  <a:pt x="0" y="179971"/>
                </a:lnTo>
                <a:lnTo>
                  <a:pt x="179971" y="179971"/>
                </a:lnTo>
                <a:lnTo>
                  <a:pt x="179971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557" y="6471920"/>
            <a:ext cx="76200" cy="171591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Future</a:t>
            </a:r>
            <a:r>
              <a:rPr sz="4000" spc="-254" dirty="0"/>
              <a:t> </a:t>
            </a:r>
            <a:r>
              <a:rPr sz="4000" spc="-10" dirty="0"/>
              <a:t>scope</a:t>
            </a:r>
            <a:endParaRPr sz="400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4595" y="1599946"/>
            <a:ext cx="130009" cy="130048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Incorporate</a:t>
            </a:r>
            <a:r>
              <a:rPr spc="-35" dirty="0"/>
              <a:t> </a:t>
            </a:r>
            <a:r>
              <a:rPr spc="-10" dirty="0"/>
              <a:t>multi-</a:t>
            </a:r>
            <a:r>
              <a:rPr dirty="0"/>
              <a:t>year</a:t>
            </a:r>
            <a:r>
              <a:rPr spc="-35" dirty="0"/>
              <a:t> </a:t>
            </a:r>
            <a:r>
              <a:rPr dirty="0"/>
              <a:t>data</a:t>
            </a:r>
            <a:r>
              <a:rPr spc="-5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separate</a:t>
            </a:r>
            <a:r>
              <a:rPr spc="-50" dirty="0"/>
              <a:t> </a:t>
            </a:r>
            <a:r>
              <a:rPr dirty="0"/>
              <a:t>genuine</a:t>
            </a:r>
            <a:r>
              <a:rPr spc="-45" dirty="0"/>
              <a:t> </a:t>
            </a:r>
            <a:r>
              <a:rPr spc="-10" dirty="0"/>
              <a:t>seasonal </a:t>
            </a:r>
            <a:r>
              <a:rPr dirty="0"/>
              <a:t>effects</a:t>
            </a:r>
            <a:r>
              <a:rPr spc="-50" dirty="0"/>
              <a:t> </a:t>
            </a:r>
            <a:r>
              <a:rPr dirty="0"/>
              <a:t>from</a:t>
            </a:r>
            <a:r>
              <a:rPr spc="-35" dirty="0"/>
              <a:t> </a:t>
            </a:r>
            <a:r>
              <a:rPr spc="-10" dirty="0"/>
              <a:t>single-</a:t>
            </a:r>
            <a:r>
              <a:rPr dirty="0"/>
              <a:t>year</a:t>
            </a:r>
            <a:r>
              <a:rPr spc="-35" dirty="0"/>
              <a:t> </a:t>
            </a:r>
            <a:r>
              <a:rPr dirty="0"/>
              <a:t>weather</a:t>
            </a:r>
            <a:r>
              <a:rPr spc="-45" dirty="0"/>
              <a:t> </a:t>
            </a:r>
            <a:r>
              <a:rPr spc="-10" dirty="0"/>
              <a:t>anomalies.</a:t>
            </a:r>
          </a:p>
          <a:p>
            <a:pPr>
              <a:lnSpc>
                <a:spcPct val="100000"/>
              </a:lnSpc>
              <a:spcBef>
                <a:spcPts val="1390"/>
              </a:spcBef>
            </a:pPr>
            <a:endParaRPr/>
          </a:p>
          <a:p>
            <a:pPr marL="12700" marR="269875">
              <a:lnSpc>
                <a:spcPct val="100000"/>
              </a:lnSpc>
            </a:pPr>
            <a:r>
              <a:rPr dirty="0"/>
              <a:t>Build</a:t>
            </a:r>
            <a:r>
              <a:rPr spc="-55" dirty="0"/>
              <a:t> </a:t>
            </a:r>
            <a:r>
              <a:rPr dirty="0"/>
              <a:t>predictive</a:t>
            </a:r>
            <a:r>
              <a:rPr spc="-50" dirty="0"/>
              <a:t> </a:t>
            </a:r>
            <a:r>
              <a:rPr dirty="0"/>
              <a:t>models</a:t>
            </a:r>
            <a:r>
              <a:rPr spc="-55" dirty="0"/>
              <a:t> </a:t>
            </a:r>
            <a:r>
              <a:rPr dirty="0"/>
              <a:t>(machine</a:t>
            </a:r>
            <a:r>
              <a:rPr spc="-60" dirty="0"/>
              <a:t> </a:t>
            </a:r>
            <a:r>
              <a:rPr dirty="0"/>
              <a:t>learning)</a:t>
            </a:r>
            <a:r>
              <a:rPr spc="-60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spc="-10" dirty="0"/>
              <a:t>forecast </a:t>
            </a:r>
            <a:r>
              <a:rPr dirty="0"/>
              <a:t>yield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profit</a:t>
            </a:r>
            <a:r>
              <a:rPr spc="-15" dirty="0"/>
              <a:t> </a:t>
            </a:r>
            <a:r>
              <a:rPr dirty="0"/>
              <a:t>by</a:t>
            </a:r>
            <a:r>
              <a:rPr spc="-40" dirty="0"/>
              <a:t> </a:t>
            </a:r>
            <a:r>
              <a:rPr dirty="0"/>
              <a:t>season</a:t>
            </a:r>
            <a:r>
              <a:rPr spc="-25" dirty="0"/>
              <a:t> </a:t>
            </a:r>
            <a:r>
              <a:rPr dirty="0"/>
              <a:t>ahead</a:t>
            </a:r>
            <a:r>
              <a:rPr spc="-4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10" dirty="0"/>
              <a:t>planting.</a:t>
            </a:r>
          </a:p>
          <a:p>
            <a:pPr>
              <a:lnSpc>
                <a:spcPct val="100000"/>
              </a:lnSpc>
              <a:spcBef>
                <a:spcPts val="1385"/>
              </a:spcBef>
            </a:pPr>
            <a:endParaRPr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Develop</a:t>
            </a:r>
            <a:r>
              <a:rPr spc="-30" dirty="0"/>
              <a:t> </a:t>
            </a:r>
            <a:r>
              <a:rPr dirty="0"/>
              <a:t>an</a:t>
            </a:r>
            <a:r>
              <a:rPr spc="-55" dirty="0"/>
              <a:t> </a:t>
            </a:r>
            <a:r>
              <a:rPr dirty="0"/>
              <a:t>interactive</a:t>
            </a:r>
            <a:r>
              <a:rPr spc="-35" dirty="0"/>
              <a:t> </a:t>
            </a:r>
            <a:r>
              <a:rPr dirty="0"/>
              <a:t>dashboard</a:t>
            </a:r>
            <a:r>
              <a:rPr spc="-4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spc="-10" dirty="0"/>
              <a:t>real-</a:t>
            </a:r>
            <a:r>
              <a:rPr dirty="0"/>
              <a:t>time,</a:t>
            </a:r>
            <a:r>
              <a:rPr spc="-35" dirty="0"/>
              <a:t> </a:t>
            </a:r>
            <a:r>
              <a:rPr spc="-10" dirty="0"/>
              <a:t>season-</a:t>
            </a:r>
          </a:p>
          <a:p>
            <a:pPr marL="12700">
              <a:lnSpc>
                <a:spcPct val="100000"/>
              </a:lnSpc>
            </a:pPr>
            <a:r>
              <a:rPr dirty="0"/>
              <a:t>wise</a:t>
            </a:r>
            <a:r>
              <a:rPr spc="-40" dirty="0"/>
              <a:t> </a:t>
            </a:r>
            <a:r>
              <a:rPr dirty="0"/>
              <a:t>monitoring</a:t>
            </a:r>
            <a:r>
              <a:rPr spc="-1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farm</a:t>
            </a:r>
            <a:r>
              <a:rPr spc="-45" dirty="0"/>
              <a:t> </a:t>
            </a:r>
            <a:r>
              <a:rPr spc="-10" dirty="0"/>
              <a:t>performance.</a:t>
            </a:r>
          </a:p>
          <a:p>
            <a:pPr>
              <a:lnSpc>
                <a:spcPct val="100000"/>
              </a:lnSpc>
              <a:spcBef>
                <a:spcPts val="1390"/>
              </a:spcBef>
            </a:pPr>
            <a:endParaRPr/>
          </a:p>
          <a:p>
            <a:pPr marL="12700" marR="274320">
              <a:lnSpc>
                <a:spcPct val="100000"/>
              </a:lnSpc>
            </a:pPr>
            <a:r>
              <a:rPr dirty="0"/>
              <a:t>Extend</a:t>
            </a:r>
            <a:r>
              <a:rPr spc="-3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analysis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spc="-10" dirty="0"/>
              <a:t>district-</a:t>
            </a:r>
            <a:r>
              <a:rPr dirty="0"/>
              <a:t>level</a:t>
            </a:r>
            <a:r>
              <a:rPr spc="-15" dirty="0"/>
              <a:t> </a:t>
            </a:r>
            <a:r>
              <a:rPr spc="-10" dirty="0"/>
              <a:t>micro-</a:t>
            </a:r>
            <a:r>
              <a:rPr dirty="0"/>
              <a:t>climate</a:t>
            </a:r>
            <a:r>
              <a:rPr spc="-10" dirty="0"/>
              <a:t> </a:t>
            </a:r>
            <a:r>
              <a:rPr spc="-25" dirty="0"/>
              <a:t>and </a:t>
            </a:r>
            <a:r>
              <a:rPr spc="-10" dirty="0"/>
              <a:t>soil-</a:t>
            </a:r>
            <a:r>
              <a:rPr dirty="0"/>
              <a:t>type</a:t>
            </a:r>
            <a:r>
              <a:rPr spc="-10" dirty="0"/>
              <a:t> </a:t>
            </a:r>
            <a:r>
              <a:rPr dirty="0"/>
              <a:t>factors</a:t>
            </a:r>
            <a:r>
              <a:rPr spc="-5" dirty="0"/>
              <a:t> </a:t>
            </a:r>
            <a:r>
              <a:rPr dirty="0"/>
              <a:t>for</a:t>
            </a:r>
            <a:r>
              <a:rPr spc="-15" dirty="0"/>
              <a:t> </a:t>
            </a:r>
            <a:r>
              <a:rPr spc="-10" dirty="0"/>
              <a:t>finer-</a:t>
            </a:r>
            <a:r>
              <a:rPr dirty="0"/>
              <a:t>grained</a:t>
            </a:r>
            <a:r>
              <a:rPr spc="-20" dirty="0"/>
              <a:t> </a:t>
            </a:r>
            <a:r>
              <a:rPr spc="-10" dirty="0"/>
              <a:t>insight.</a:t>
            </a:r>
          </a:p>
          <a:p>
            <a:pPr>
              <a:lnSpc>
                <a:spcPct val="100000"/>
              </a:lnSpc>
              <a:spcBef>
                <a:spcPts val="1390"/>
              </a:spcBef>
            </a:pPr>
            <a:endParaRPr/>
          </a:p>
          <a:p>
            <a:pPr marL="12700" marR="169545">
              <a:lnSpc>
                <a:spcPct val="100000"/>
              </a:lnSpc>
            </a:pPr>
            <a:r>
              <a:rPr dirty="0"/>
              <a:t>Integrate</a:t>
            </a:r>
            <a:r>
              <a:rPr spc="-60" dirty="0"/>
              <a:t> </a:t>
            </a:r>
            <a:r>
              <a:rPr dirty="0"/>
              <a:t>market</a:t>
            </a:r>
            <a:r>
              <a:rPr spc="-60" dirty="0"/>
              <a:t> </a:t>
            </a:r>
            <a:r>
              <a:rPr dirty="0"/>
              <a:t>price</a:t>
            </a:r>
            <a:r>
              <a:rPr spc="-60" dirty="0"/>
              <a:t> </a:t>
            </a:r>
            <a:r>
              <a:rPr dirty="0"/>
              <a:t>forecasting</a:t>
            </a:r>
            <a:r>
              <a:rPr spc="-60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dirty="0"/>
              <a:t>seasonal</a:t>
            </a:r>
            <a:r>
              <a:rPr spc="-65" dirty="0"/>
              <a:t> </a:t>
            </a:r>
            <a:r>
              <a:rPr spc="-10" dirty="0"/>
              <a:t>supply </a:t>
            </a:r>
            <a:r>
              <a:rPr dirty="0"/>
              <a:t>patterns</a:t>
            </a:r>
            <a:r>
              <a:rPr spc="-40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guide</a:t>
            </a:r>
            <a:r>
              <a:rPr spc="-30" dirty="0"/>
              <a:t> </a:t>
            </a:r>
            <a:r>
              <a:rPr spc="-10" dirty="0"/>
              <a:t>sell-</a:t>
            </a:r>
            <a:r>
              <a:rPr dirty="0"/>
              <a:t>timing</a:t>
            </a:r>
            <a:r>
              <a:rPr spc="-10" dirty="0"/>
              <a:t> decisions.</a:t>
            </a: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4595" y="2499995"/>
            <a:ext cx="130009" cy="13004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4595" y="3400044"/>
            <a:ext cx="130009" cy="12992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54595" y="4299965"/>
            <a:ext cx="130009" cy="13004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54595" y="5200015"/>
            <a:ext cx="130009" cy="130048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pPr marL="38100">
                <a:lnSpc>
                  <a:spcPct val="100000"/>
                </a:lnSpc>
                <a:spcBef>
                  <a:spcPts val="35"/>
                </a:spcBef>
              </a:pPr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941" y="6482814"/>
            <a:ext cx="175260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5"/>
              </a:lnSpc>
              <a:tabLst>
                <a:tab pos="784860" algn="l"/>
              </a:tabLst>
            </a:pPr>
            <a:r>
              <a:rPr sz="1100" spc="-10" dirty="0">
                <a:solidFill>
                  <a:srgbClr val="2D83C3"/>
                </a:solidFill>
                <a:latin typeface="Trebuchet MS"/>
                <a:cs typeface="Trebuchet MS"/>
              </a:rPr>
              <a:t>9/4/2026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	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Annual</a:t>
            </a:r>
            <a:r>
              <a:rPr sz="1100" b="1" spc="-15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2D83C3"/>
                </a:solidFill>
                <a:latin typeface="Trebuchet MS"/>
                <a:cs typeface="Trebuchet MS"/>
              </a:rPr>
              <a:t>Review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54439" y="536398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2772" y="1699933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319747" y="0"/>
                </a:moveTo>
                <a:lnTo>
                  <a:pt x="0" y="0"/>
                </a:lnTo>
                <a:lnTo>
                  <a:pt x="0" y="319747"/>
                </a:lnTo>
                <a:lnTo>
                  <a:pt x="319747" y="319747"/>
                </a:lnTo>
                <a:lnTo>
                  <a:pt x="319747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4439" y="5897740"/>
            <a:ext cx="180340" cy="180340"/>
          </a:xfrm>
          <a:custGeom>
            <a:avLst/>
            <a:gdLst/>
            <a:ahLst/>
            <a:cxnLst/>
            <a:rect l="l" t="t" r="r" b="b"/>
            <a:pathLst>
              <a:path w="180340" h="180339">
                <a:moveTo>
                  <a:pt x="179971" y="0"/>
                </a:moveTo>
                <a:lnTo>
                  <a:pt x="0" y="0"/>
                </a:lnTo>
                <a:lnTo>
                  <a:pt x="0" y="179971"/>
                </a:lnTo>
                <a:lnTo>
                  <a:pt x="179971" y="179971"/>
                </a:lnTo>
                <a:lnTo>
                  <a:pt x="179971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6557" y="6471920"/>
            <a:ext cx="76200" cy="171591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GitHub</a:t>
            </a:r>
            <a:r>
              <a:rPr sz="4000" spc="-130" dirty="0"/>
              <a:t> </a:t>
            </a:r>
            <a:r>
              <a:rPr sz="4000" spc="-20" dirty="0"/>
              <a:t>Link</a:t>
            </a:r>
            <a:endParaRPr sz="400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pPr marL="38100">
                <a:lnSpc>
                  <a:spcPct val="100000"/>
                </a:lnSpc>
                <a:spcBef>
                  <a:spcPts val="35"/>
                </a:spcBef>
              </a:pPr>
              <a:t>12</a:t>
            </a:fld>
            <a:endParaRPr spc="-25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3505200"/>
            <a:ext cx="8751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hlinkClick r:id="rId4"/>
              </a:rPr>
              <a:t>https://github.com/Rohanchalluri/Seasonal_Agriculture_Performance_Analysis-.git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941" y="6482814"/>
            <a:ext cx="175260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5"/>
              </a:lnSpc>
              <a:tabLst>
                <a:tab pos="784860" algn="l"/>
              </a:tabLst>
            </a:pPr>
            <a:r>
              <a:rPr sz="1100" spc="-10" dirty="0">
                <a:solidFill>
                  <a:srgbClr val="2D83C3"/>
                </a:solidFill>
                <a:latin typeface="Trebuchet MS"/>
                <a:cs typeface="Trebuchet MS"/>
              </a:rPr>
              <a:t>9/4/2026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	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Annual</a:t>
            </a:r>
            <a:r>
              <a:rPr sz="1100" b="1" spc="-15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2D83C3"/>
                </a:solidFill>
                <a:latin typeface="Trebuchet MS"/>
                <a:cs typeface="Trebuchet MS"/>
              </a:rPr>
              <a:t>Review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54439" y="536398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2772" y="1699933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319747" y="0"/>
                </a:moveTo>
                <a:lnTo>
                  <a:pt x="0" y="0"/>
                </a:lnTo>
                <a:lnTo>
                  <a:pt x="0" y="319747"/>
                </a:lnTo>
                <a:lnTo>
                  <a:pt x="319747" y="319747"/>
                </a:lnTo>
                <a:lnTo>
                  <a:pt x="319747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4439" y="5897740"/>
            <a:ext cx="180340" cy="180340"/>
          </a:xfrm>
          <a:custGeom>
            <a:avLst/>
            <a:gdLst/>
            <a:ahLst/>
            <a:cxnLst/>
            <a:rect l="l" t="t" r="r" b="b"/>
            <a:pathLst>
              <a:path w="180340" h="180339">
                <a:moveTo>
                  <a:pt x="179971" y="0"/>
                </a:moveTo>
                <a:lnTo>
                  <a:pt x="0" y="0"/>
                </a:lnTo>
                <a:lnTo>
                  <a:pt x="0" y="179971"/>
                </a:lnTo>
                <a:lnTo>
                  <a:pt x="179971" y="179971"/>
                </a:lnTo>
                <a:lnTo>
                  <a:pt x="179971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557" y="6471920"/>
            <a:ext cx="76200" cy="171591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/>
              <a:t>VOIS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60" dirty="0"/>
              <a:t> </a:t>
            </a:r>
            <a:r>
              <a:rPr dirty="0"/>
              <a:t>completion</a:t>
            </a:r>
            <a:r>
              <a:rPr spc="-75" dirty="0"/>
              <a:t> </a:t>
            </a:r>
            <a:r>
              <a:rPr dirty="0"/>
              <a:t>certificate</a:t>
            </a:r>
            <a:r>
              <a:rPr spc="-40" dirty="0"/>
              <a:t> </a:t>
            </a:r>
            <a:r>
              <a:rPr spc="-50" dirty="0"/>
              <a:t>- </a:t>
            </a:r>
            <a:r>
              <a:rPr dirty="0"/>
              <a:t>Course</a:t>
            </a:r>
            <a:r>
              <a:rPr spc="-45" dirty="0"/>
              <a:t> </a:t>
            </a:r>
            <a:r>
              <a:rPr dirty="0"/>
              <a:t>name-</a:t>
            </a:r>
            <a:r>
              <a:rPr spc="-45" dirty="0"/>
              <a:t> </a:t>
            </a:r>
            <a:r>
              <a:rPr dirty="0"/>
              <a:t>Data</a:t>
            </a:r>
            <a:r>
              <a:rPr spc="-25" dirty="0"/>
              <a:t> </a:t>
            </a:r>
            <a:r>
              <a:rPr spc="-10" dirty="0"/>
              <a:t>Visualization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pPr marL="38100">
                <a:lnSpc>
                  <a:spcPct val="100000"/>
                </a:lnSpc>
                <a:spcBef>
                  <a:spcPts val="35"/>
                </a:spcBef>
              </a:pPr>
              <a:t>13</a:t>
            </a:fld>
            <a:endParaRPr spc="-25" dirty="0"/>
          </a:p>
        </p:txBody>
      </p:sp>
      <p:pic>
        <p:nvPicPr>
          <p:cNvPr id="10" name="Picture 9" descr="Screenshot_10-9-2026_92716_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1371600"/>
            <a:ext cx="6629400" cy="467853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6671" y="3467608"/>
            <a:ext cx="458470" cy="394970"/>
          </a:xfrm>
          <a:custGeom>
            <a:avLst/>
            <a:gdLst/>
            <a:ahLst/>
            <a:cxnLst/>
            <a:rect l="l" t="t" r="r" b="b"/>
            <a:pathLst>
              <a:path w="458469" h="394970">
                <a:moveTo>
                  <a:pt x="359498" y="0"/>
                </a:moveTo>
                <a:lnTo>
                  <a:pt x="98767" y="0"/>
                </a:lnTo>
                <a:lnTo>
                  <a:pt x="0" y="197484"/>
                </a:lnTo>
                <a:lnTo>
                  <a:pt x="98767" y="394969"/>
                </a:lnTo>
                <a:lnTo>
                  <a:pt x="359498" y="394969"/>
                </a:lnTo>
                <a:lnTo>
                  <a:pt x="458266" y="197484"/>
                </a:lnTo>
                <a:lnTo>
                  <a:pt x="359498" y="0"/>
                </a:lnTo>
                <a:close/>
              </a:path>
            </a:pathLst>
          </a:custGeom>
          <a:solidFill>
            <a:srgbClr val="5FCAE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0882630" y="2202179"/>
            <a:ext cx="589280" cy="501650"/>
            <a:chOff x="10882630" y="2202179"/>
            <a:chExt cx="589280" cy="501650"/>
          </a:xfrm>
        </p:grpSpPr>
        <p:sp>
          <p:nvSpPr>
            <p:cNvPr id="4" name="object 4"/>
            <p:cNvSpPr/>
            <p:nvPr/>
          </p:nvSpPr>
          <p:spPr>
            <a:xfrm>
              <a:off x="11113389" y="2394711"/>
              <a:ext cx="358775" cy="309245"/>
            </a:xfrm>
            <a:custGeom>
              <a:avLst/>
              <a:gdLst/>
              <a:ahLst/>
              <a:cxnLst/>
              <a:rect l="l" t="t" r="r" b="b"/>
              <a:pathLst>
                <a:path w="358775" h="309244">
                  <a:moveTo>
                    <a:pt x="281050" y="0"/>
                  </a:moveTo>
                  <a:lnTo>
                    <a:pt x="77215" y="0"/>
                  </a:lnTo>
                  <a:lnTo>
                    <a:pt x="0" y="154432"/>
                  </a:lnTo>
                  <a:lnTo>
                    <a:pt x="77215" y="308990"/>
                  </a:lnTo>
                  <a:lnTo>
                    <a:pt x="281050" y="308990"/>
                  </a:lnTo>
                  <a:lnTo>
                    <a:pt x="358393" y="154432"/>
                  </a:lnTo>
                  <a:lnTo>
                    <a:pt x="281050" y="0"/>
                  </a:lnTo>
                  <a:close/>
                </a:path>
              </a:pathLst>
            </a:custGeom>
            <a:solidFill>
              <a:srgbClr val="2D8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82630" y="2202179"/>
              <a:ext cx="230759" cy="198882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328286" y="2966973"/>
            <a:ext cx="268160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dirty="0"/>
              <a:t>Thank</a:t>
            </a:r>
            <a:r>
              <a:rPr sz="4300" spc="-5" dirty="0"/>
              <a:t> </a:t>
            </a:r>
            <a:r>
              <a:rPr sz="4300" spc="-25" dirty="0"/>
              <a:t>you</a:t>
            </a:r>
            <a:endParaRPr sz="4300"/>
          </a:p>
        </p:txBody>
      </p:sp>
      <p:sp>
        <p:nvSpPr>
          <p:cNvPr id="7" name="object 7"/>
          <p:cNvSpPr txBox="1"/>
          <p:nvPr/>
        </p:nvSpPr>
        <p:spPr>
          <a:xfrm>
            <a:off x="4748021" y="4669916"/>
            <a:ext cx="1003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12248" y="4669916"/>
            <a:ext cx="1003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39241" y="6470114"/>
            <a:ext cx="610870" cy="18859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solidFill>
                  <a:srgbClr val="2D83C3"/>
                </a:solidFill>
                <a:latin typeface="Trebuchet MS"/>
                <a:cs typeface="Trebuchet MS"/>
              </a:rPr>
              <a:t>9/4/2026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24380" y="6470114"/>
            <a:ext cx="992505" cy="18859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Annual</a:t>
            </a:r>
            <a:r>
              <a:rPr sz="1100" b="1" spc="-15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2D83C3"/>
                </a:solidFill>
                <a:latin typeface="Trebuchet MS"/>
                <a:cs typeface="Trebuchet MS"/>
              </a:rPr>
              <a:t>Review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pPr marL="38100">
                <a:lnSpc>
                  <a:spcPct val="100000"/>
                </a:lnSpc>
                <a:spcBef>
                  <a:spcPts val="35"/>
                </a:spcBef>
              </a:pPr>
              <a:t>14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ECDE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597</Words>
  <Application>Microsoft Office PowerPoint</Application>
  <PresentationFormat>Custom</PresentationFormat>
  <Paragraphs>97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Seasonal Analysis</vt:lpstr>
      <vt:lpstr>PROBLEM  STATEMENT</vt:lpstr>
      <vt:lpstr>Project Description</vt:lpstr>
      <vt:lpstr>WHO ARE THE END USERS?</vt:lpstr>
      <vt:lpstr>Technology Used</vt:lpstr>
      <vt:lpstr>RESULTS</vt:lpstr>
      <vt:lpstr>RESULTS</vt:lpstr>
      <vt:lpstr>RESULTS</vt:lpstr>
      <vt:lpstr>RESULTS</vt:lpstr>
      <vt:lpstr>RESULTS</vt:lpstr>
      <vt:lpstr>Future scope</vt:lpstr>
      <vt:lpstr>GitHub Link</vt:lpstr>
      <vt:lpstr>VOIS Course completion certificate - Course name- Data Visualization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sree</cp:lastModifiedBy>
  <cp:revision>2</cp:revision>
  <dcterms:created xsi:type="dcterms:W3CDTF">2026-09-10T04:58:14Z</dcterms:created>
  <dcterms:modified xsi:type="dcterms:W3CDTF">2026-09-10T05:18:32Z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2026-09-04T00:00:00Z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2026-09-10T00:00:00Z</vt:filetime>
  </property>
  <property fmtid="{D5CDD505-2E9C-101B-9397-08002B2CF9AE}" pid="6" name="Producer">
    <vt:lpwstr>Microsoft® PowerPoint® for Microsoft 365</vt:lpwstr>
  </property>
</Properties>
</file>